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8" d="100"/>
          <a:sy n="98" d="100"/>
        </p:scale>
        <p:origin x="1044" y="6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Delivery Days</c:v>
                </c:pt>
              </c:strCache>
            </c:strRef>
          </c:tx>
          <c:spPr>
            <a:solidFill>
              <a:srgbClr val="F59E0B"/>
            </a:solidFill>
            <a:effectLst/>
          </c:spPr>
          <c:invertIfNegative val="0"/>
          <c:dPt>
            <c:idx val="0"/>
            <c:invertIfNegative val="0"/>
            <c:bubble3D val="0"/>
            <c:extLst>
              <c:ext xmlns:c16="http://schemas.microsoft.com/office/drawing/2014/chart" uri="{C3380CC4-5D6E-409C-BE32-E72D297353CC}">
                <c16:uniqueId val="{00000001-E924-4D90-80FD-87D25D90ACC7}"/>
              </c:ext>
            </c:extLst>
          </c:dPt>
          <c:dPt>
            <c:idx val="1"/>
            <c:invertIfNegative val="0"/>
            <c:bubble3D val="0"/>
            <c:extLst>
              <c:ext xmlns:c16="http://schemas.microsoft.com/office/drawing/2014/chart" uri="{C3380CC4-5D6E-409C-BE32-E72D297353CC}">
                <c16:uniqueId val="{00000003-E924-4D90-80FD-87D25D90ACC7}"/>
              </c:ext>
            </c:extLst>
          </c:dPt>
          <c:dPt>
            <c:idx val="2"/>
            <c:invertIfNegative val="0"/>
            <c:bubble3D val="0"/>
            <c:extLst>
              <c:ext xmlns:c16="http://schemas.microsoft.com/office/drawing/2014/chart" uri="{C3380CC4-5D6E-409C-BE32-E72D297353CC}">
                <c16:uniqueId val="{00000005-E924-4D90-80FD-87D25D90ACC7}"/>
              </c:ext>
            </c:extLst>
          </c:dPt>
          <c:dLbls>
            <c:numFmt formatCode="0.0" sourceLinked="0"/>
            <c:spPr>
              <a:noFill/>
              <a:ln>
                <a:noFill/>
              </a:ln>
              <a:effectLst/>
            </c:spPr>
            <c:txPr>
              <a:bodyPr/>
              <a:lstStyle/>
              <a:p>
                <a:pPr>
                  <a:defRPr sz="1100" b="1" i="0" u="none" strike="noStrike">
                    <a:solidFill>
                      <a:srgbClr val="1E29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High</c:v>
                </c:pt>
                <c:pt idx="1">
                  <c:v>Medium</c:v>
                </c:pt>
                <c:pt idx="2">
                  <c:v>Low</c:v>
                </c:pt>
              </c:strCache>
            </c:strRef>
          </c:cat>
          <c:val>
            <c:numRef>
              <c:f>Sheet1!$B$2:$B$4</c:f>
              <c:numCache>
                <c:formatCode>General</c:formatCode>
                <c:ptCount val="3"/>
                <c:pt idx="0">
                  <c:v>11.3</c:v>
                </c:pt>
                <c:pt idx="1">
                  <c:v>15.1</c:v>
                </c:pt>
                <c:pt idx="2">
                  <c:v>12.9</c:v>
                </c:pt>
              </c:numCache>
            </c:numRef>
          </c:val>
          <c:extLst>
            <c:ext xmlns:c16="http://schemas.microsoft.com/office/drawing/2014/chart" uri="{C3380CC4-5D6E-409C-BE32-E72D297353CC}">
              <c16:uniqueId val="{00000006-E924-4D90-80FD-87D25D90ACC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Calibri"/>
              </a:defRPr>
            </a:pPr>
            <a:endParaRPr lang="en-US"/>
          </a:p>
        </c:txPr>
        <c:crossAx val="2094734552"/>
        <c:crosses val="autoZero"/>
        <c:auto val="1"/>
        <c:lblAlgn val="ctr"/>
        <c:lblOffset val="100"/>
        <c:noMultiLvlLbl val="1"/>
      </c:catAx>
      <c:valAx>
        <c:axId val="2094734552"/>
        <c:scaling>
          <c:orientation val="minMax"/>
          <c:max val="18"/>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0:00-1:00  |  Opening and framing.</a:t>
            </a:r>
          </a:p>
          <a:p>
            <a:r>
              <a:rPr lang="en-US"/>
              <a:t>Welcome everyone. This briefing is our supply chain issue compliance review: a focused look at delivery reliability, component-level risk, and where those combine into compliance exposure across our supplier network.</a:t>
            </a:r>
          </a:p>
          <a:p>
            <a:r>
              <a:rPr lang="en-US"/>
              <a:t>The analysis draws on two sources, the Supply Chain Issue Report and the Expanded Supply Chain Metrics workbook, which together cover roughly 50 component records across five suppliers: NextGen Pharma, PrimeLogistics, RawMatPlus, EcoSupply, and GlobalChem.</a:t>
            </a:r>
          </a:p>
          <a:p>
            <a:r>
              <a:rPr lang="en-US"/>
              <a:t>My goal over the next 15 minutes is to give you a clear picture of the three core problems, the five components that need action, and a concrete corrective roadmap you can endorse today.</a:t>
            </a:r>
          </a:p>
          <a:p>
            <a:r>
              <a:rPr lang="en-US"/>
              <a:t>This is prepared for leadership and marked confidential, so please keep distribution internal. I will hold questions to the final slide to protect our timing.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1:00-3:30  |  The situation at a glance.</a:t>
            </a:r>
          </a:p>
          <a:p>
            <a:r>
              <a:rPr lang="en-US"/>
              <a:t>Three headline numbers frame the problem. First, COAT890 sits at 84.2% on-time delivery across five records, the weakest of any flagged component. Second, Medium-risk items average 15.1 delivery days, the longest exposure of any risk tier. Third, COMP043 carries a 4.89% defect rate even though it is classified Low risk.</a:t>
            </a:r>
          </a:p>
          <a:p>
            <a:r>
              <a:rPr lang="en-US"/>
              <a:t>Those three data points map directly to our three core issues: delivery delay exposure, component-level inconsistency, and compliance risk.</a:t>
            </a:r>
          </a:p>
          <a:p>
            <a:r>
              <a:rPr lang="en-US"/>
              <a:t>The key insight for this room: risk classification alone does not capture exposure. Our Medium-risk items, not our High-risk items, carry the longest average delays at 15.1 days. Ratings must always be read alongside supplier and component performance.</a:t>
            </a:r>
          </a:p>
          <a:p>
            <a:r>
              <a:rPr lang="en-US"/>
              <a:t>Five components drive the concern and will recur throughout this briefing: COAT890, CARB123, BIND567, COMP042, and COMP043. Each needs its own targeted corrective action rather than a single blanket fix.</a:t>
            </a:r>
          </a:p>
          <a:p>
            <a:r>
              <a:rPr lang="en-US"/>
              <a:t>Our priorities, which I will build out over the next slides, are to tighten supplier performance reviews, validate reorder and safety-stock assumptions, and strengthen traceability for audit readiness.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3:30-6:00  |  Flagged components and delivery risk.</a:t>
            </a:r>
          </a:p>
          <a:p>
            <a:r>
              <a:rPr lang="en-US"/>
              <a:t>Let me walk the five components quickly. BIND567 is our only High-risk item here, averaging 11.3 delivery days across 12 records. Its risk is driven by lead-time exposure, not poor on-time performance, since the available record shows 99% on-time.</a:t>
            </a:r>
          </a:p>
          <a:p>
            <a:r>
              <a:rPr lang="en-US"/>
              <a:t>CARB123 averages 90.3% on-time across four records, but execution is inconsistent, ranging from 84% to 98%. COAT890 is the weakest performer at 84.2% on-time, with fragmentation across three suppliers.</a:t>
            </a:r>
          </a:p>
          <a:p>
            <a:r>
              <a:rPr lang="en-US"/>
              <a:t>COMP042 is Medium risk with the longest average timeline at 15.1 days across 24 records. COMP043 is Low risk but flags on quality, with that 4.89% defect rate.</a:t>
            </a:r>
          </a:p>
          <a:p>
            <a:r>
              <a:rPr lang="en-US"/>
              <a:t>The chart on the right makes the counter-intuitive point visible: Medium-risk items average 15.1 days versus 12.9 for Low and just 11.3 for High. If you take one thing from this slide, it is that our rating scale is not tracking delivery exposure the way we would expect.</a:t>
            </a:r>
          </a:p>
          <a:p>
            <a:r>
              <a:rPr lang="en-US"/>
              <a:t>Note we are keeping this deliberately high-level for leadership. The underlying workbook holds 20 metrics per record across 50 records, so we can go deeper on any component in follow-up.</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6:00-8:00  |  Where variability becomes exposure.</a:t>
            </a:r>
          </a:p>
          <a:p>
            <a:r>
              <a:rPr lang="en-US"/>
              <a:t>This is the slide that connects operations to compliance. Delivery variability raises the likelihood of missed production windows, unplanned substitutions, expedited logistics exceptions, and additional quality review.</a:t>
            </a:r>
          </a:p>
          <a:p>
            <a:r>
              <a:rPr lang="en-US"/>
              <a:t>Each of those can trigger documented deviation handling or supplier corrective action, which is exactly where audit and regulatory exposure enters the picture.</a:t>
            </a:r>
          </a:p>
          <a:p>
            <a:r>
              <a:rPr lang="en-US"/>
              <a:t>Three components are compliance-sensitive today. CARB123 has high-risk entries with on-time delivery as low as 85%. COAT890 at 84.2% on-time raises delay and exception risk. And COMP043 carries a 4.89% defect rate despite its Low-risk label.</a:t>
            </a:r>
          </a:p>
          <a:p>
            <a:r>
              <a:rPr lang="en-US"/>
              <a:t>The message for stakeholders: treat these three as compliance items, not just logistics items. They should carry enhanced incoming inspection and deviation documentation until their metrics recover.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8:00-10:30  |  What is driving the delays.</a:t>
            </a:r>
          </a:p>
          <a:p>
            <a:r>
              <a:rPr lang="en-US"/>
              <a:t>We traced root causes for the three priority components. CARB123, supplied by RawMatPlus, shows supplier capacity and execution variability: a 62-day delivery outlier, a 24-day lead-time variance, and a 4.41% defect rate all point to capacity limits and quality rework. Note RawMatPlus averages a solid 14.2 days and 90.6% on-time overall, so this is component-specific instability, not a supplier-wide failure.</a:t>
            </a:r>
          </a:p>
          <a:p>
            <a:r>
              <a:rPr lang="en-US"/>
              <a:t>BIND567, tied to EcoSupply, is a logistics story. Despite 99% on-time on the available record, it shows a 64-day timeline, a 26-day lead-time variance, and a 453-unit backorder. That signals transportation disruption or exceptional lead-time exposure, not routine reliability.</a:t>
            </a:r>
          </a:p>
          <a:p>
            <a:r>
              <a:rPr lang="en-US"/>
              <a:t>COAT890 is the most complex: its records span three suppliers with on-time lows of 81%, a 60-day GlobalChem outlier, a 22-day lead-time variance, and defects up to 4.76%. That fragmentation forces rework, inspection holds, and supplier substitutions.</a:t>
            </a:r>
          </a:p>
          <a:p>
            <a:r>
              <a:rPr lang="en-US"/>
              <a:t>The cross-component conclusion is the takeaway to leave with: delays stem from lead-time volatility, supplier-specific capacity limits, and quality rework. That is why we recommend targeted action by component rather than one broad supplier intervention.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10:30-12:30  |  A phased path to resilience.</a:t>
            </a:r>
          </a:p>
          <a:p>
            <a:r>
              <a:rPr lang="en-US"/>
              <a:t>Our general strategy is sequenced across five moves. In the first 0 to 30 days we segment suppliers by delivery and quality risk, using delivery timelines, on-time rates, lead-time variance, defect rates, and backorder exposure to see who is driving the greatest exposure.</a:t>
            </a:r>
          </a:p>
          <a:p>
            <a:r>
              <a:rPr lang="en-US"/>
              <a:t>From 30 to 60 days we strengthen safety-stock and reorder governance for components with high backorders or long lead-time variance, which cuts emergency purchases and expedited shipments. From 30 to 90 days we require supplier corrective action plans for recurring late delivery or quality failures.</a:t>
            </a:r>
          </a:p>
          <a:p>
            <a:r>
              <a:rPr lang="en-US"/>
              <a:t>From 60 to 120 days we qualify alternate sources for critical or constrained components to reduce single-supplier dependency. And on an ongoing monthly cycle we improve forecast discipline and procurement cadence.</a:t>
            </a:r>
          </a:p>
          <a:p>
            <a:r>
              <a:rPr lang="en-US"/>
              <a:t>Each step has a measurable outcome: faster prioritization, fewer emergency purchases, better supplier accountability, greater resilience, and lower shortage risk. Emphasize to stakeholders that this is a build over four months, not a one-time fix.</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12:30-14:00  |  Component-focused corrective roadmap.</a:t>
            </a:r>
          </a:p>
          <a:p>
            <a:r>
              <a:rPr lang="en-US"/>
              <a:t>Now the same discipline applied to our three priority components, each with named phases. For CARB123: in the first 45 days we review the RawMatPlus contract and set delivery escalation triggers; from 45 to 90 days we validate corrective actions while holding buffer inventory. This directly targets the 62-day outlier and 24-day lead-time variance.</a:t>
            </a:r>
          </a:p>
          <a:p>
            <a:r>
              <a:rPr lang="en-US"/>
              <a:t>For BIND567: in the first 30 days we stand up a logistics recovery plan and lane review with EcoSupply; from 30 to 60 days we adjust contingency stock and move to weekly variance monitoring, addressing the 64-day timeline and 453-unit backorder.</a:t>
            </a:r>
          </a:p>
          <a:p>
            <a:r>
              <a:rPr lang="en-US"/>
              <a:t>For COAT890: in the first 60 days we run a supplier performance review with enhanced incoming inspection; from 60 to 120 days we qualify an alternate source for the GlobalChem lots, with the goal of lifting on-time delivery above the current 84.2%.</a:t>
            </a:r>
          </a:p>
          <a:p>
            <a:r>
              <a:rPr lang="en-US"/>
              <a:t>These are owned, time-boxed actions. I will bring status against each phase to our monthly supply review so progress stays visible.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14:00-15:00  |  From findings to action, and the ask.</a:t>
            </a:r>
          </a:p>
          <a:p>
            <a:r>
              <a:rPr lang="en-US"/>
              <a:t>To close, four priorities. One: prioritize the five flagged components, COAT890, CARB123, BIND567, COMP042, and COMP043, with targeted corrective actions. Two: tighten supplier performance reviews with formal scorecards and escalation triggers across the highest-exposure suppliers.</a:t>
            </a:r>
          </a:p>
          <a:p>
            <a:r>
              <a:rPr lang="en-US"/>
              <a:t>Three: validate reorder and safety-stock assumptions where backorders and lead-time variance are elevated. Four: strengthen traceability and audit readiness through standardized deviation documentation and enhanced incoming inspection.</a:t>
            </a:r>
          </a:p>
          <a:p>
            <a:r>
              <a:rPr lang="en-US"/>
              <a:t>Together these measures reduce operational disruption while strengthening quality control and compliance.</a:t>
            </a:r>
          </a:p>
          <a:p>
            <a:r>
              <a:rPr lang="en-US"/>
              <a:t>The ask today is your endorsement of this roadmap and the named component owners so we can begin the 0 to 30 day actions immediately. I am happy to take questions now.</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9825794"/>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6.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59E0B"/>
          </a:solidFill>
          <a:ln/>
        </p:spPr>
        <p:txBody>
          <a:bodyPr/>
          <a:lstStyle/>
          <a:p>
            <a:endParaRPr lang="en-US"/>
          </a:p>
        </p:txBody>
      </p:sp>
      <p:sp>
        <p:nvSpPr>
          <p:cNvPr id="3" name="Shape 1"/>
          <p:cNvSpPr/>
          <p:nvPr/>
        </p:nvSpPr>
        <p:spPr>
          <a:xfrm>
            <a:off x="201168" y="0"/>
            <a:ext cx="54864" cy="5143500"/>
          </a:xfrm>
          <a:prstGeom prst="rect">
            <a:avLst/>
          </a:prstGeom>
          <a:solidFill>
            <a:srgbClr val="B45309"/>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989320" y="960120"/>
            <a:ext cx="3017520" cy="3017520"/>
          </a:xfrm>
          <a:prstGeom prst="rect">
            <a:avLst/>
          </a:prstGeom>
        </p:spPr>
      </p:pic>
      <p:sp>
        <p:nvSpPr>
          <p:cNvPr id="5" name="Text 2"/>
          <p:cNvSpPr/>
          <p:nvPr/>
        </p:nvSpPr>
        <p:spPr>
          <a:xfrm>
            <a:off x="685800" y="1234440"/>
            <a:ext cx="5943600" cy="320040"/>
          </a:xfrm>
          <a:prstGeom prst="rect">
            <a:avLst/>
          </a:prstGeom>
          <a:noFill/>
          <a:ln/>
        </p:spPr>
        <p:txBody>
          <a:bodyPr wrap="square" lIns="0" tIns="0" rIns="0" bIns="0" rtlCol="0" anchor="ctr"/>
          <a:lstStyle/>
          <a:p>
            <a:pPr marL="0" indent="0">
              <a:buNone/>
            </a:pPr>
            <a:r>
              <a:rPr lang="en-US" sz="1300" b="1" kern="0" spc="300" dirty="0">
                <a:solidFill>
                  <a:srgbClr val="F59E0B"/>
                </a:solidFill>
                <a:latin typeface="Calibri" pitchFamily="34" charset="0"/>
                <a:ea typeface="Calibri" pitchFamily="34" charset="-122"/>
                <a:cs typeface="Calibri" pitchFamily="34" charset="-120"/>
              </a:rPr>
              <a:t>SUPPLY CHAIN RISK  |  COMPLIANCE REVIEW</a:t>
            </a:r>
            <a:endParaRPr lang="en-US" sz="1300" dirty="0"/>
          </a:p>
        </p:txBody>
      </p:sp>
      <p:sp>
        <p:nvSpPr>
          <p:cNvPr id="6" name="Text 3"/>
          <p:cNvSpPr/>
          <p:nvPr/>
        </p:nvSpPr>
        <p:spPr>
          <a:xfrm>
            <a:off x="658368" y="1600200"/>
            <a:ext cx="6035040" cy="1554480"/>
          </a:xfrm>
          <a:prstGeom prst="rect">
            <a:avLst/>
          </a:prstGeom>
          <a:noFill/>
          <a:ln/>
        </p:spPr>
        <p:txBody>
          <a:bodyPr wrap="square" lIns="0" tIns="0" rIns="0" bIns="0" rtlCol="0" anchor="ctr"/>
          <a:lstStyle/>
          <a:p>
            <a:pPr marL="0" indent="0">
              <a:lnSpc>
                <a:spcPct val="100000"/>
              </a:lnSpc>
              <a:buNone/>
            </a:pPr>
            <a:r>
              <a:rPr lang="en-US" sz="4000" b="1" dirty="0">
                <a:solidFill>
                  <a:srgbClr val="FFFFFF"/>
                </a:solidFill>
                <a:latin typeface="Trebuchet MS" pitchFamily="34" charset="0"/>
                <a:ea typeface="Trebuchet MS" pitchFamily="34" charset="-122"/>
                <a:cs typeface="Trebuchet MS" pitchFamily="34" charset="-120"/>
              </a:rPr>
              <a:t>Supply Chain Issue</a:t>
            </a:r>
            <a:endParaRPr lang="en-US" sz="4000" dirty="0"/>
          </a:p>
          <a:p>
            <a:pPr marL="0" indent="0">
              <a:lnSpc>
                <a:spcPct val="100000"/>
              </a:lnSpc>
              <a:buNone/>
            </a:pPr>
            <a:r>
              <a:rPr lang="en-US" sz="4000" b="1" dirty="0">
                <a:solidFill>
                  <a:srgbClr val="FFFFFF"/>
                </a:solidFill>
                <a:latin typeface="Trebuchet MS" pitchFamily="34" charset="0"/>
                <a:ea typeface="Trebuchet MS" pitchFamily="34" charset="-122"/>
                <a:cs typeface="Trebuchet MS" pitchFamily="34" charset="-120"/>
              </a:rPr>
              <a:t>Compliance Report</a:t>
            </a:r>
            <a:endParaRPr lang="en-US" sz="4000" dirty="0"/>
          </a:p>
        </p:txBody>
      </p:sp>
      <p:sp>
        <p:nvSpPr>
          <p:cNvPr id="7" name="Shape 4"/>
          <p:cNvSpPr/>
          <p:nvPr/>
        </p:nvSpPr>
        <p:spPr>
          <a:xfrm>
            <a:off x="685800" y="3246120"/>
            <a:ext cx="1463040" cy="41148"/>
          </a:xfrm>
          <a:prstGeom prst="rect">
            <a:avLst/>
          </a:prstGeom>
          <a:solidFill>
            <a:srgbClr val="F59E0B"/>
          </a:solidFill>
          <a:ln/>
        </p:spPr>
        <p:txBody>
          <a:bodyPr/>
          <a:lstStyle/>
          <a:p>
            <a:endParaRPr lang="en-US"/>
          </a:p>
        </p:txBody>
      </p:sp>
      <p:sp>
        <p:nvSpPr>
          <p:cNvPr id="8" name="Text 5"/>
          <p:cNvSpPr/>
          <p:nvPr/>
        </p:nvSpPr>
        <p:spPr>
          <a:xfrm>
            <a:off x="685800" y="3429000"/>
            <a:ext cx="5303520" cy="64008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Delivery reliability, component-level risk, and compliance exposure across the supplier network</a:t>
            </a:r>
            <a:endParaRPr lang="en-US" sz="1400" dirty="0"/>
          </a:p>
        </p:txBody>
      </p:sp>
      <p:sp>
        <p:nvSpPr>
          <p:cNvPr id="9" name="Text 6"/>
          <p:cNvSpPr/>
          <p:nvPr/>
        </p:nvSpPr>
        <p:spPr>
          <a:xfrm>
            <a:off x="685800" y="4343400"/>
            <a:ext cx="5486400" cy="5486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Prepared for Executive Leadership</a:t>
            </a:r>
            <a:endParaRPr lang="en-US" sz="1150" dirty="0"/>
          </a:p>
          <a:p>
            <a:pPr marL="0" indent="0">
              <a:buNone/>
            </a:pPr>
            <a:r>
              <a:rPr lang="en-US" sz="1150" dirty="0">
                <a:solidFill>
                  <a:srgbClr val="64748B"/>
                </a:solidFill>
                <a:latin typeface="Calibri" pitchFamily="34" charset="0"/>
                <a:ea typeface="Calibri" pitchFamily="34" charset="-122"/>
                <a:cs typeface="Calibri" pitchFamily="34" charset="-120"/>
              </a:rPr>
              <a:t>July 2026  •  Confidential</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93B"/>
          </a:solidFill>
          <a:ln/>
        </p:spPr>
        <p:txBody>
          <a:bodyPr/>
          <a:lstStyle/>
          <a:p>
            <a:endParaRPr lang="en-US"/>
          </a:p>
        </p:txBody>
      </p:sp>
      <p:sp>
        <p:nvSpPr>
          <p:cNvPr id="3" name="Shape 1"/>
          <p:cNvSpPr/>
          <p:nvPr/>
        </p:nvSpPr>
        <p:spPr>
          <a:xfrm>
            <a:off x="0" y="1051560"/>
            <a:ext cx="9144000" cy="45720"/>
          </a:xfrm>
          <a:prstGeom prst="rect">
            <a:avLst/>
          </a:prstGeom>
          <a:solidFill>
            <a:srgbClr val="F59E0B"/>
          </a:solidFill>
          <a:ln/>
        </p:spPr>
        <p:txBody>
          <a:bodyPr/>
          <a:lstStyle/>
          <a:p>
            <a:endParaRPr lang="en-US"/>
          </a:p>
        </p:txBody>
      </p:sp>
      <p:sp>
        <p:nvSpPr>
          <p:cNvPr id="4" name="Shape 2"/>
          <p:cNvSpPr/>
          <p:nvPr/>
        </p:nvSpPr>
        <p:spPr>
          <a:xfrm>
            <a:off x="457200" y="256032"/>
            <a:ext cx="548640" cy="548640"/>
          </a:xfrm>
          <a:prstGeom prst="rect">
            <a:avLst/>
          </a:prstGeom>
          <a:solidFill>
            <a:srgbClr val="334155"/>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566928" y="365760"/>
            <a:ext cx="329184" cy="329184"/>
          </a:xfrm>
          <a:prstGeom prst="rect">
            <a:avLst/>
          </a:prstGeom>
        </p:spPr>
      </p:pic>
      <p:sp>
        <p:nvSpPr>
          <p:cNvPr id="6" name="Text 3"/>
          <p:cNvSpPr/>
          <p:nvPr/>
        </p:nvSpPr>
        <p:spPr>
          <a:xfrm>
            <a:off x="1188720" y="256032"/>
            <a:ext cx="7498080" cy="256032"/>
          </a:xfrm>
          <a:prstGeom prst="rect">
            <a:avLst/>
          </a:prstGeom>
          <a:noFill/>
          <a:ln/>
        </p:spPr>
        <p:txBody>
          <a:bodyPr wrap="square" lIns="0" tIns="0" rIns="0" bIns="0" rtlCol="0" anchor="ctr"/>
          <a:lstStyle/>
          <a:p>
            <a:pPr marL="0" indent="0">
              <a:buNone/>
            </a:pPr>
            <a:r>
              <a:rPr lang="en-US" sz="1100" b="1" kern="0" spc="200" dirty="0">
                <a:solidFill>
                  <a:srgbClr val="FBBF24"/>
                </a:solidFill>
                <a:latin typeface="Calibri" pitchFamily="34" charset="0"/>
                <a:ea typeface="Calibri" pitchFamily="34" charset="-122"/>
                <a:cs typeface="Calibri" pitchFamily="34" charset="-120"/>
              </a:rPr>
              <a:t>EXECUTIVE SUMMARY</a:t>
            </a:r>
            <a:endParaRPr lang="en-US" sz="1100" dirty="0"/>
          </a:p>
        </p:txBody>
      </p:sp>
      <p:sp>
        <p:nvSpPr>
          <p:cNvPr id="7" name="Text 4"/>
          <p:cNvSpPr/>
          <p:nvPr/>
        </p:nvSpPr>
        <p:spPr>
          <a:xfrm>
            <a:off x="1188720" y="475488"/>
            <a:ext cx="7498080" cy="45720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The Situation at a Glance</a:t>
            </a:r>
            <a:endParaRPr lang="en-US" sz="2400" dirty="0"/>
          </a:p>
        </p:txBody>
      </p:sp>
      <p:sp>
        <p:nvSpPr>
          <p:cNvPr id="8" name="Text 5"/>
          <p:cNvSpPr/>
          <p:nvPr/>
        </p:nvSpPr>
        <p:spPr>
          <a:xfrm>
            <a:off x="457200" y="4864608"/>
            <a:ext cx="548640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Supply Chain Issue Compliance Report</a:t>
            </a:r>
            <a:endParaRPr lang="en-US" sz="800" dirty="0"/>
          </a:p>
        </p:txBody>
      </p:sp>
      <p:sp>
        <p:nvSpPr>
          <p:cNvPr id="9" name="Text 6"/>
          <p:cNvSpPr/>
          <p:nvPr/>
        </p:nvSpPr>
        <p:spPr>
          <a:xfrm>
            <a:off x="7315200" y="4864608"/>
            <a:ext cx="1371600" cy="228600"/>
          </a:xfrm>
          <a:prstGeom prst="rect">
            <a:avLst/>
          </a:prstGeom>
          <a:noFill/>
          <a:ln/>
        </p:spPr>
        <p:txBody>
          <a:bodyPr wrap="square" lIns="0" tIns="0" rIns="0" bIns="0"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Confidential</a:t>
            </a:r>
            <a:endParaRPr lang="en-US" sz="800" dirty="0"/>
          </a:p>
        </p:txBody>
      </p:sp>
      <p:sp>
        <p:nvSpPr>
          <p:cNvPr id="10" name="Shape 7"/>
          <p:cNvSpPr/>
          <p:nvPr/>
        </p:nvSpPr>
        <p:spPr>
          <a:xfrm>
            <a:off x="457200" y="1325880"/>
            <a:ext cx="2679192" cy="1325880"/>
          </a:xfrm>
          <a:prstGeom prst="rect">
            <a:avLst/>
          </a:prstGeom>
          <a:solidFill>
            <a:srgbClr val="FFFFFF"/>
          </a:solidFill>
          <a:ln w="12700">
            <a:solidFill>
              <a:srgbClr val="E2E8F0"/>
            </a:solidFill>
            <a:prstDash val="solid"/>
          </a:ln>
          <a:effectLst>
            <a:outerShdw blurRad="101600" dist="38100" dir="8100000" algn="bl" rotWithShape="0">
              <a:srgbClr val="0F172A">
                <a:alpha val="18000"/>
              </a:srgbClr>
            </a:outerShdw>
          </a:effectLst>
        </p:spPr>
        <p:txBody>
          <a:bodyPr/>
          <a:lstStyle/>
          <a:p>
            <a:endParaRPr lang="en-US"/>
          </a:p>
        </p:txBody>
      </p:sp>
      <p:sp>
        <p:nvSpPr>
          <p:cNvPr id="11" name="Shape 8"/>
          <p:cNvSpPr/>
          <p:nvPr/>
        </p:nvSpPr>
        <p:spPr>
          <a:xfrm>
            <a:off x="457200" y="1325880"/>
            <a:ext cx="64008" cy="1325880"/>
          </a:xfrm>
          <a:prstGeom prst="rect">
            <a:avLst/>
          </a:prstGeom>
          <a:solidFill>
            <a:srgbClr val="F59E0B"/>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713232" y="1527048"/>
            <a:ext cx="365760" cy="365760"/>
          </a:xfrm>
          <a:prstGeom prst="rect">
            <a:avLst/>
          </a:prstGeom>
        </p:spPr>
      </p:pic>
      <p:sp>
        <p:nvSpPr>
          <p:cNvPr id="13" name="Text 9"/>
          <p:cNvSpPr/>
          <p:nvPr/>
        </p:nvSpPr>
        <p:spPr>
          <a:xfrm>
            <a:off x="1170432" y="1453896"/>
            <a:ext cx="1856232" cy="50292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84.2%</a:t>
            </a:r>
            <a:endParaRPr lang="en-US" sz="3000" dirty="0"/>
          </a:p>
        </p:txBody>
      </p:sp>
      <p:sp>
        <p:nvSpPr>
          <p:cNvPr id="14" name="Text 10"/>
          <p:cNvSpPr/>
          <p:nvPr/>
        </p:nvSpPr>
        <p:spPr>
          <a:xfrm>
            <a:off x="713232" y="1984248"/>
            <a:ext cx="2221992" cy="566928"/>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COAT890 on-time delivery — weakest of flagged components</a:t>
            </a:r>
            <a:endParaRPr lang="en-US" sz="1050" dirty="0"/>
          </a:p>
        </p:txBody>
      </p:sp>
      <p:sp>
        <p:nvSpPr>
          <p:cNvPr id="15" name="Shape 11"/>
          <p:cNvSpPr/>
          <p:nvPr/>
        </p:nvSpPr>
        <p:spPr>
          <a:xfrm>
            <a:off x="3259836" y="1325880"/>
            <a:ext cx="2679192" cy="1325880"/>
          </a:xfrm>
          <a:prstGeom prst="rect">
            <a:avLst/>
          </a:prstGeom>
          <a:solidFill>
            <a:srgbClr val="FFFFFF"/>
          </a:solidFill>
          <a:ln w="12700">
            <a:solidFill>
              <a:srgbClr val="E2E8F0"/>
            </a:solidFill>
            <a:prstDash val="solid"/>
          </a:ln>
          <a:effectLst>
            <a:outerShdw blurRad="101600" dist="38100" dir="8100000" algn="bl" rotWithShape="0">
              <a:srgbClr val="0F172A">
                <a:alpha val="18000"/>
              </a:srgbClr>
            </a:outerShdw>
          </a:effectLst>
        </p:spPr>
        <p:txBody>
          <a:bodyPr/>
          <a:lstStyle/>
          <a:p>
            <a:endParaRPr lang="en-US"/>
          </a:p>
        </p:txBody>
      </p:sp>
      <p:sp>
        <p:nvSpPr>
          <p:cNvPr id="16" name="Shape 12"/>
          <p:cNvSpPr/>
          <p:nvPr/>
        </p:nvSpPr>
        <p:spPr>
          <a:xfrm>
            <a:off x="3259836" y="1325880"/>
            <a:ext cx="64008" cy="1325880"/>
          </a:xfrm>
          <a:prstGeom prst="rect">
            <a:avLst/>
          </a:prstGeom>
          <a:solidFill>
            <a:srgbClr val="F59E0B"/>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3515868" y="1527048"/>
            <a:ext cx="365760" cy="365760"/>
          </a:xfrm>
          <a:prstGeom prst="rect">
            <a:avLst/>
          </a:prstGeom>
        </p:spPr>
      </p:pic>
      <p:sp>
        <p:nvSpPr>
          <p:cNvPr id="18" name="Text 13"/>
          <p:cNvSpPr/>
          <p:nvPr/>
        </p:nvSpPr>
        <p:spPr>
          <a:xfrm>
            <a:off x="3973068" y="1453896"/>
            <a:ext cx="1856232" cy="50292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15.1</a:t>
            </a:r>
            <a:endParaRPr lang="en-US" sz="3000" dirty="0"/>
          </a:p>
        </p:txBody>
      </p:sp>
      <p:sp>
        <p:nvSpPr>
          <p:cNvPr id="19" name="Text 14"/>
          <p:cNvSpPr/>
          <p:nvPr/>
        </p:nvSpPr>
        <p:spPr>
          <a:xfrm>
            <a:off x="3515868" y="1984248"/>
            <a:ext cx="2221992" cy="566928"/>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Avg delivery days for Medium-risk items — the longest exposure</a:t>
            </a:r>
            <a:endParaRPr lang="en-US" sz="1050" dirty="0"/>
          </a:p>
        </p:txBody>
      </p:sp>
      <p:sp>
        <p:nvSpPr>
          <p:cNvPr id="20" name="Shape 15"/>
          <p:cNvSpPr/>
          <p:nvPr/>
        </p:nvSpPr>
        <p:spPr>
          <a:xfrm>
            <a:off x="6062472" y="1325880"/>
            <a:ext cx="2679192" cy="1325880"/>
          </a:xfrm>
          <a:prstGeom prst="rect">
            <a:avLst/>
          </a:prstGeom>
          <a:solidFill>
            <a:srgbClr val="FFFFFF"/>
          </a:solidFill>
          <a:ln w="12700">
            <a:solidFill>
              <a:srgbClr val="E2E8F0"/>
            </a:solidFill>
            <a:prstDash val="solid"/>
          </a:ln>
          <a:effectLst>
            <a:outerShdw blurRad="101600" dist="38100" dir="8100000" algn="bl" rotWithShape="0">
              <a:srgbClr val="0F172A">
                <a:alpha val="18000"/>
              </a:srgbClr>
            </a:outerShdw>
          </a:effectLst>
        </p:spPr>
        <p:txBody>
          <a:bodyPr/>
          <a:lstStyle/>
          <a:p>
            <a:endParaRPr lang="en-US"/>
          </a:p>
        </p:txBody>
      </p:sp>
      <p:sp>
        <p:nvSpPr>
          <p:cNvPr id="21" name="Shape 16"/>
          <p:cNvSpPr/>
          <p:nvPr/>
        </p:nvSpPr>
        <p:spPr>
          <a:xfrm>
            <a:off x="6062472" y="1325880"/>
            <a:ext cx="64008" cy="1325880"/>
          </a:xfrm>
          <a:prstGeom prst="rect">
            <a:avLst/>
          </a:prstGeom>
          <a:solidFill>
            <a:srgbClr val="F59E0B"/>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6318504" y="1527048"/>
            <a:ext cx="365760" cy="365760"/>
          </a:xfrm>
          <a:prstGeom prst="rect">
            <a:avLst/>
          </a:prstGeom>
        </p:spPr>
      </p:pic>
      <p:sp>
        <p:nvSpPr>
          <p:cNvPr id="23" name="Text 17"/>
          <p:cNvSpPr/>
          <p:nvPr/>
        </p:nvSpPr>
        <p:spPr>
          <a:xfrm>
            <a:off x="6775704" y="1453896"/>
            <a:ext cx="1856232" cy="50292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4.89%</a:t>
            </a:r>
            <a:endParaRPr lang="en-US" sz="3000" dirty="0"/>
          </a:p>
        </p:txBody>
      </p:sp>
      <p:sp>
        <p:nvSpPr>
          <p:cNvPr id="24" name="Text 18"/>
          <p:cNvSpPr/>
          <p:nvPr/>
        </p:nvSpPr>
        <p:spPr>
          <a:xfrm>
            <a:off x="6318504" y="1984248"/>
            <a:ext cx="2221992" cy="566928"/>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COMP043 defect rate despite a Low-risk classification</a:t>
            </a:r>
            <a:endParaRPr lang="en-US" sz="1050" dirty="0"/>
          </a:p>
        </p:txBody>
      </p:sp>
      <p:sp>
        <p:nvSpPr>
          <p:cNvPr id="25" name="Text 19"/>
          <p:cNvSpPr/>
          <p:nvPr/>
        </p:nvSpPr>
        <p:spPr>
          <a:xfrm>
            <a:off x="457200" y="2880360"/>
            <a:ext cx="8229600" cy="274320"/>
          </a:xfrm>
          <a:prstGeom prst="rect">
            <a:avLst/>
          </a:prstGeom>
          <a:noFill/>
          <a:ln/>
        </p:spPr>
        <p:txBody>
          <a:bodyPr wrap="square" lIns="0" tIns="0" rIns="0" bIns="0" rtlCol="0" anchor="ctr"/>
          <a:lstStyle/>
          <a:p>
            <a:pPr marL="0" indent="0">
              <a:buNone/>
            </a:pPr>
            <a:r>
              <a:rPr lang="en-US" sz="1100" b="1" kern="0" spc="200" dirty="0">
                <a:solidFill>
                  <a:srgbClr val="B45309"/>
                </a:solidFill>
                <a:latin typeface="Calibri" pitchFamily="34" charset="0"/>
                <a:ea typeface="Calibri" pitchFamily="34" charset="-122"/>
                <a:cs typeface="Calibri" pitchFamily="34" charset="-120"/>
              </a:rPr>
              <a:t>KEY TAKEAWAYS</a:t>
            </a:r>
            <a:endParaRPr lang="en-US" sz="1100" dirty="0"/>
          </a:p>
        </p:txBody>
      </p:sp>
      <p:sp>
        <p:nvSpPr>
          <p:cNvPr id="26" name="Text 20"/>
          <p:cNvSpPr/>
          <p:nvPr/>
        </p:nvSpPr>
        <p:spPr>
          <a:xfrm>
            <a:off x="457200" y="3172968"/>
            <a:ext cx="8229600" cy="14173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334155"/>
                </a:solidFill>
                <a:latin typeface="Calibri" pitchFamily="34" charset="0"/>
                <a:ea typeface="Calibri" pitchFamily="34" charset="-122"/>
                <a:cs typeface="Calibri" pitchFamily="34" charset="-120"/>
              </a:rPr>
              <a:t>Delivery delay, component inconsistency, and compliance risk are the three issues requiring management attention.</a:t>
            </a:r>
            <a:endParaRPr lang="en-US" sz="1250" dirty="0"/>
          </a:p>
          <a:p>
            <a:pPr marL="177800" indent="-177800">
              <a:spcAft>
                <a:spcPts val="600"/>
              </a:spcAft>
              <a:buSzPct val="100000"/>
              <a:buChar char="•"/>
            </a:pPr>
            <a:r>
              <a:rPr lang="en-US" sz="1250" dirty="0">
                <a:solidFill>
                  <a:srgbClr val="334155"/>
                </a:solidFill>
                <a:latin typeface="Calibri" pitchFamily="34" charset="0"/>
                <a:ea typeface="Calibri" pitchFamily="34" charset="-122"/>
                <a:cs typeface="Calibri" pitchFamily="34" charset="-120"/>
              </a:rPr>
              <a:t>Risk classification alone does not capture exposure — Medium-risk items carry the longest average delays, so ratings must be read alongside supplier and component performance.</a:t>
            </a:r>
            <a:endParaRPr lang="en-US" sz="1250" dirty="0"/>
          </a:p>
          <a:p>
            <a:pPr marL="177800" indent="-177800">
              <a:spcAft>
                <a:spcPts val="600"/>
              </a:spcAft>
              <a:buSzPct val="100000"/>
              <a:buChar char="•"/>
            </a:pPr>
            <a:r>
              <a:rPr lang="en-US" sz="1250" dirty="0">
                <a:solidFill>
                  <a:srgbClr val="334155"/>
                </a:solidFill>
                <a:latin typeface="Calibri" pitchFamily="34" charset="0"/>
                <a:ea typeface="Calibri" pitchFamily="34" charset="-122"/>
                <a:cs typeface="Calibri" pitchFamily="34" charset="-120"/>
              </a:rPr>
              <a:t>Five components drive the concern: COAT890, CARB123, BIND567, COMP042, and COMP043 — each needs a targeted corrective action.</a:t>
            </a:r>
            <a:endParaRPr lang="en-US" sz="1250" dirty="0"/>
          </a:p>
          <a:p>
            <a:pPr marL="177800" indent="-177800">
              <a:buSzPct val="100000"/>
              <a:buChar char="•"/>
            </a:pPr>
            <a:r>
              <a:rPr lang="en-US" sz="1250" dirty="0">
                <a:solidFill>
                  <a:srgbClr val="334155"/>
                </a:solidFill>
                <a:latin typeface="Calibri" pitchFamily="34" charset="0"/>
                <a:ea typeface="Calibri" pitchFamily="34" charset="-122"/>
                <a:cs typeface="Calibri" pitchFamily="34" charset="-120"/>
              </a:rPr>
              <a:t>Priority is to tighten supplier reviews, validate reorder and safety-stock assumptions, and strengthen traceability for audit readiness.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93B"/>
          </a:solidFill>
          <a:ln/>
        </p:spPr>
        <p:txBody>
          <a:bodyPr/>
          <a:lstStyle/>
          <a:p>
            <a:endParaRPr lang="en-US"/>
          </a:p>
        </p:txBody>
      </p:sp>
      <p:sp>
        <p:nvSpPr>
          <p:cNvPr id="3" name="Shape 1"/>
          <p:cNvSpPr/>
          <p:nvPr/>
        </p:nvSpPr>
        <p:spPr>
          <a:xfrm>
            <a:off x="0" y="1051560"/>
            <a:ext cx="9144000" cy="45720"/>
          </a:xfrm>
          <a:prstGeom prst="rect">
            <a:avLst/>
          </a:prstGeom>
          <a:solidFill>
            <a:srgbClr val="F59E0B"/>
          </a:solidFill>
          <a:ln/>
        </p:spPr>
        <p:txBody>
          <a:bodyPr/>
          <a:lstStyle/>
          <a:p>
            <a:endParaRPr lang="en-US"/>
          </a:p>
        </p:txBody>
      </p:sp>
      <p:sp>
        <p:nvSpPr>
          <p:cNvPr id="4" name="Shape 2"/>
          <p:cNvSpPr/>
          <p:nvPr/>
        </p:nvSpPr>
        <p:spPr>
          <a:xfrm>
            <a:off x="457200" y="256032"/>
            <a:ext cx="548640" cy="548640"/>
          </a:xfrm>
          <a:prstGeom prst="rect">
            <a:avLst/>
          </a:prstGeom>
          <a:solidFill>
            <a:srgbClr val="334155"/>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566928" y="365760"/>
            <a:ext cx="329184" cy="329184"/>
          </a:xfrm>
          <a:prstGeom prst="rect">
            <a:avLst/>
          </a:prstGeom>
        </p:spPr>
      </p:pic>
      <p:sp>
        <p:nvSpPr>
          <p:cNvPr id="6" name="Text 3"/>
          <p:cNvSpPr/>
          <p:nvPr/>
        </p:nvSpPr>
        <p:spPr>
          <a:xfrm>
            <a:off x="1188720" y="256032"/>
            <a:ext cx="7498080" cy="256032"/>
          </a:xfrm>
          <a:prstGeom prst="rect">
            <a:avLst/>
          </a:prstGeom>
          <a:noFill/>
          <a:ln/>
        </p:spPr>
        <p:txBody>
          <a:bodyPr wrap="square" lIns="0" tIns="0" rIns="0" bIns="0" rtlCol="0" anchor="ctr"/>
          <a:lstStyle/>
          <a:p>
            <a:pPr marL="0" indent="0">
              <a:buNone/>
            </a:pPr>
            <a:r>
              <a:rPr lang="en-US" sz="1100" b="1" kern="0" spc="200" dirty="0">
                <a:solidFill>
                  <a:srgbClr val="FBBF24"/>
                </a:solidFill>
                <a:latin typeface="Calibri" pitchFamily="34" charset="0"/>
                <a:ea typeface="Calibri" pitchFamily="34" charset="-122"/>
                <a:cs typeface="Calibri" pitchFamily="34" charset="-120"/>
              </a:rPr>
              <a:t>COMPONENT OVERVIEW</a:t>
            </a:r>
            <a:endParaRPr lang="en-US" sz="1100" dirty="0"/>
          </a:p>
        </p:txBody>
      </p:sp>
      <p:sp>
        <p:nvSpPr>
          <p:cNvPr id="7" name="Text 4"/>
          <p:cNvSpPr/>
          <p:nvPr/>
        </p:nvSpPr>
        <p:spPr>
          <a:xfrm>
            <a:off x="1188720" y="475488"/>
            <a:ext cx="7498080" cy="45720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Flagged Components &amp; Delivery Risk</a:t>
            </a:r>
            <a:endParaRPr lang="en-US" sz="2400" dirty="0"/>
          </a:p>
        </p:txBody>
      </p:sp>
      <p:sp>
        <p:nvSpPr>
          <p:cNvPr id="8" name="Text 5"/>
          <p:cNvSpPr/>
          <p:nvPr/>
        </p:nvSpPr>
        <p:spPr>
          <a:xfrm>
            <a:off x="457200" y="4864608"/>
            <a:ext cx="548640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Supply Chain Issue Compliance Report</a:t>
            </a:r>
            <a:endParaRPr lang="en-US" sz="800" dirty="0"/>
          </a:p>
        </p:txBody>
      </p:sp>
      <p:sp>
        <p:nvSpPr>
          <p:cNvPr id="9" name="Text 6"/>
          <p:cNvSpPr/>
          <p:nvPr/>
        </p:nvSpPr>
        <p:spPr>
          <a:xfrm>
            <a:off x="7315200" y="4864608"/>
            <a:ext cx="1371600" cy="228600"/>
          </a:xfrm>
          <a:prstGeom prst="rect">
            <a:avLst/>
          </a:prstGeom>
          <a:noFill/>
          <a:ln/>
        </p:spPr>
        <p:txBody>
          <a:bodyPr wrap="square" lIns="0" tIns="0" rIns="0" bIns="0"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Confidential</a:t>
            </a:r>
            <a:endParaRPr lang="en-US" sz="800" dirty="0"/>
          </a:p>
        </p:txBody>
      </p:sp>
      <p:sp>
        <p:nvSpPr>
          <p:cNvPr id="10" name="Shape 7"/>
          <p:cNvSpPr/>
          <p:nvPr/>
        </p:nvSpPr>
        <p:spPr>
          <a:xfrm>
            <a:off x="457200" y="1325880"/>
            <a:ext cx="4892040" cy="621792"/>
          </a:xfrm>
          <a:prstGeom prst="rect">
            <a:avLst/>
          </a:prstGeom>
          <a:solidFill>
            <a:srgbClr val="FFFFFF"/>
          </a:solidFill>
          <a:ln w="12700">
            <a:solidFill>
              <a:srgbClr val="E2E8F0"/>
            </a:solidFill>
            <a:prstDash val="solid"/>
          </a:ln>
        </p:spPr>
        <p:txBody>
          <a:bodyPr/>
          <a:lstStyle/>
          <a:p>
            <a:endParaRPr lang="en-US"/>
          </a:p>
        </p:txBody>
      </p:sp>
      <p:sp>
        <p:nvSpPr>
          <p:cNvPr id="11" name="Shape 8"/>
          <p:cNvSpPr/>
          <p:nvPr/>
        </p:nvSpPr>
        <p:spPr>
          <a:xfrm>
            <a:off x="457200" y="1325880"/>
            <a:ext cx="64008" cy="621792"/>
          </a:xfrm>
          <a:prstGeom prst="rect">
            <a:avLst/>
          </a:prstGeom>
          <a:solidFill>
            <a:srgbClr val="F59E0B"/>
          </a:solidFill>
          <a:ln/>
        </p:spPr>
        <p:txBody>
          <a:bodyPr/>
          <a:lstStyle/>
          <a:p>
            <a:endParaRPr lang="en-US"/>
          </a:p>
        </p:txBody>
      </p:sp>
      <p:sp>
        <p:nvSpPr>
          <p:cNvPr id="12" name="Text 9"/>
          <p:cNvSpPr/>
          <p:nvPr/>
        </p:nvSpPr>
        <p:spPr>
          <a:xfrm>
            <a:off x="658368" y="1380744"/>
            <a:ext cx="1417320" cy="512064"/>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BIND567</a:t>
            </a:r>
            <a:endParaRPr lang="en-US" sz="1400" dirty="0"/>
          </a:p>
        </p:txBody>
      </p:sp>
      <p:sp>
        <p:nvSpPr>
          <p:cNvPr id="13" name="Text 10"/>
          <p:cNvSpPr/>
          <p:nvPr/>
        </p:nvSpPr>
        <p:spPr>
          <a:xfrm>
            <a:off x="2057400" y="1380744"/>
            <a:ext cx="1143000" cy="512064"/>
          </a:xfrm>
          <a:prstGeom prst="rect">
            <a:avLst/>
          </a:prstGeom>
          <a:noFill/>
          <a:ln/>
        </p:spPr>
        <p:txBody>
          <a:bodyPr wrap="square" lIns="0" tIns="0" rIns="0" bIns="0" rtlCol="0" anchor="ctr"/>
          <a:lstStyle/>
          <a:p>
            <a:pPr marL="0" indent="0">
              <a:buNone/>
            </a:pPr>
            <a:r>
              <a:rPr lang="en-US" sz="1250" b="1" dirty="0">
                <a:solidFill>
                  <a:srgbClr val="B45309"/>
                </a:solidFill>
                <a:latin typeface="Trebuchet MS" pitchFamily="34" charset="0"/>
                <a:ea typeface="Trebuchet MS" pitchFamily="34" charset="-122"/>
                <a:cs typeface="Trebuchet MS" pitchFamily="34" charset="-120"/>
              </a:rPr>
              <a:t>High risk</a:t>
            </a:r>
            <a:endParaRPr lang="en-US" sz="1250" dirty="0"/>
          </a:p>
        </p:txBody>
      </p:sp>
      <p:sp>
        <p:nvSpPr>
          <p:cNvPr id="14" name="Text 11"/>
          <p:cNvSpPr/>
          <p:nvPr/>
        </p:nvSpPr>
        <p:spPr>
          <a:xfrm>
            <a:off x="3200400" y="1380744"/>
            <a:ext cx="2011680" cy="512064"/>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11.3 avg delivery days; driven by lead-time exposure</a:t>
            </a:r>
            <a:endParaRPr lang="en-US" sz="950" dirty="0"/>
          </a:p>
        </p:txBody>
      </p:sp>
      <p:sp>
        <p:nvSpPr>
          <p:cNvPr id="15" name="Shape 12"/>
          <p:cNvSpPr/>
          <p:nvPr/>
        </p:nvSpPr>
        <p:spPr>
          <a:xfrm>
            <a:off x="457200" y="2016252"/>
            <a:ext cx="4892040" cy="621792"/>
          </a:xfrm>
          <a:prstGeom prst="rect">
            <a:avLst/>
          </a:prstGeom>
          <a:solidFill>
            <a:srgbClr val="FFFFFF"/>
          </a:solidFill>
          <a:ln w="12700">
            <a:solidFill>
              <a:srgbClr val="E2E8F0"/>
            </a:solidFill>
            <a:prstDash val="solid"/>
          </a:ln>
        </p:spPr>
        <p:txBody>
          <a:bodyPr/>
          <a:lstStyle/>
          <a:p>
            <a:endParaRPr lang="en-US"/>
          </a:p>
        </p:txBody>
      </p:sp>
      <p:sp>
        <p:nvSpPr>
          <p:cNvPr id="16" name="Shape 13"/>
          <p:cNvSpPr/>
          <p:nvPr/>
        </p:nvSpPr>
        <p:spPr>
          <a:xfrm>
            <a:off x="457200" y="2016252"/>
            <a:ext cx="64008" cy="621792"/>
          </a:xfrm>
          <a:prstGeom prst="rect">
            <a:avLst/>
          </a:prstGeom>
          <a:solidFill>
            <a:srgbClr val="F59E0B"/>
          </a:solidFill>
          <a:ln/>
        </p:spPr>
        <p:txBody>
          <a:bodyPr/>
          <a:lstStyle/>
          <a:p>
            <a:endParaRPr lang="en-US"/>
          </a:p>
        </p:txBody>
      </p:sp>
      <p:sp>
        <p:nvSpPr>
          <p:cNvPr id="17" name="Text 14"/>
          <p:cNvSpPr/>
          <p:nvPr/>
        </p:nvSpPr>
        <p:spPr>
          <a:xfrm>
            <a:off x="658368" y="2071116"/>
            <a:ext cx="1417320" cy="512064"/>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CARB123</a:t>
            </a:r>
            <a:endParaRPr lang="en-US" sz="1400" dirty="0"/>
          </a:p>
        </p:txBody>
      </p:sp>
      <p:sp>
        <p:nvSpPr>
          <p:cNvPr id="18" name="Text 15"/>
          <p:cNvSpPr/>
          <p:nvPr/>
        </p:nvSpPr>
        <p:spPr>
          <a:xfrm>
            <a:off x="2057400" y="2071116"/>
            <a:ext cx="1143000" cy="512064"/>
          </a:xfrm>
          <a:prstGeom prst="rect">
            <a:avLst/>
          </a:prstGeom>
          <a:noFill/>
          <a:ln/>
        </p:spPr>
        <p:txBody>
          <a:bodyPr wrap="square" lIns="0" tIns="0" rIns="0" bIns="0" rtlCol="0" anchor="ctr"/>
          <a:lstStyle/>
          <a:p>
            <a:pPr marL="0" indent="0">
              <a:buNone/>
            </a:pPr>
            <a:r>
              <a:rPr lang="en-US" sz="1250" b="1" dirty="0">
                <a:solidFill>
                  <a:srgbClr val="B45309"/>
                </a:solidFill>
                <a:latin typeface="Trebuchet MS" pitchFamily="34" charset="0"/>
                <a:ea typeface="Trebuchet MS" pitchFamily="34" charset="-122"/>
                <a:cs typeface="Trebuchet MS" pitchFamily="34" charset="-120"/>
              </a:rPr>
              <a:t>90.3% OTD</a:t>
            </a:r>
            <a:endParaRPr lang="en-US" sz="1250" dirty="0"/>
          </a:p>
        </p:txBody>
      </p:sp>
      <p:sp>
        <p:nvSpPr>
          <p:cNvPr id="19" name="Text 16"/>
          <p:cNvSpPr/>
          <p:nvPr/>
        </p:nvSpPr>
        <p:spPr>
          <a:xfrm>
            <a:off x="3200400" y="2071116"/>
            <a:ext cx="2011680" cy="512064"/>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Inconsistent execution across records (84%–98%)</a:t>
            </a:r>
            <a:endParaRPr lang="en-US" sz="950" dirty="0"/>
          </a:p>
        </p:txBody>
      </p:sp>
      <p:sp>
        <p:nvSpPr>
          <p:cNvPr id="20" name="Shape 17"/>
          <p:cNvSpPr/>
          <p:nvPr/>
        </p:nvSpPr>
        <p:spPr>
          <a:xfrm>
            <a:off x="457200" y="2706624"/>
            <a:ext cx="4892040" cy="621792"/>
          </a:xfrm>
          <a:prstGeom prst="rect">
            <a:avLst/>
          </a:prstGeom>
          <a:solidFill>
            <a:srgbClr val="FFFFFF"/>
          </a:solidFill>
          <a:ln w="12700">
            <a:solidFill>
              <a:srgbClr val="E2E8F0"/>
            </a:solidFill>
            <a:prstDash val="solid"/>
          </a:ln>
        </p:spPr>
        <p:txBody>
          <a:bodyPr/>
          <a:lstStyle/>
          <a:p>
            <a:endParaRPr lang="en-US"/>
          </a:p>
        </p:txBody>
      </p:sp>
      <p:sp>
        <p:nvSpPr>
          <p:cNvPr id="21" name="Shape 18"/>
          <p:cNvSpPr/>
          <p:nvPr/>
        </p:nvSpPr>
        <p:spPr>
          <a:xfrm>
            <a:off x="457200" y="2706624"/>
            <a:ext cx="64008" cy="621792"/>
          </a:xfrm>
          <a:prstGeom prst="rect">
            <a:avLst/>
          </a:prstGeom>
          <a:solidFill>
            <a:srgbClr val="F59E0B"/>
          </a:solidFill>
          <a:ln/>
        </p:spPr>
        <p:txBody>
          <a:bodyPr/>
          <a:lstStyle/>
          <a:p>
            <a:endParaRPr lang="en-US"/>
          </a:p>
        </p:txBody>
      </p:sp>
      <p:sp>
        <p:nvSpPr>
          <p:cNvPr id="22" name="Text 19"/>
          <p:cNvSpPr/>
          <p:nvPr/>
        </p:nvSpPr>
        <p:spPr>
          <a:xfrm>
            <a:off x="658368" y="2761488"/>
            <a:ext cx="1417320" cy="512064"/>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COAT890</a:t>
            </a:r>
            <a:endParaRPr lang="en-US" sz="1400" dirty="0"/>
          </a:p>
        </p:txBody>
      </p:sp>
      <p:sp>
        <p:nvSpPr>
          <p:cNvPr id="23" name="Text 20"/>
          <p:cNvSpPr/>
          <p:nvPr/>
        </p:nvSpPr>
        <p:spPr>
          <a:xfrm>
            <a:off x="2057400" y="2761488"/>
            <a:ext cx="1143000" cy="512064"/>
          </a:xfrm>
          <a:prstGeom prst="rect">
            <a:avLst/>
          </a:prstGeom>
          <a:noFill/>
          <a:ln/>
        </p:spPr>
        <p:txBody>
          <a:bodyPr wrap="square" lIns="0" tIns="0" rIns="0" bIns="0" rtlCol="0" anchor="ctr"/>
          <a:lstStyle/>
          <a:p>
            <a:pPr marL="0" indent="0">
              <a:buNone/>
            </a:pPr>
            <a:r>
              <a:rPr lang="en-US" sz="1250" b="1" dirty="0">
                <a:solidFill>
                  <a:srgbClr val="B45309"/>
                </a:solidFill>
                <a:latin typeface="Trebuchet MS" pitchFamily="34" charset="0"/>
                <a:ea typeface="Trebuchet MS" pitchFamily="34" charset="-122"/>
                <a:cs typeface="Trebuchet MS" pitchFamily="34" charset="-120"/>
              </a:rPr>
              <a:t>84.2% OTD</a:t>
            </a:r>
            <a:endParaRPr lang="en-US" sz="1250" dirty="0"/>
          </a:p>
        </p:txBody>
      </p:sp>
      <p:sp>
        <p:nvSpPr>
          <p:cNvPr id="24" name="Text 21"/>
          <p:cNvSpPr/>
          <p:nvPr/>
        </p:nvSpPr>
        <p:spPr>
          <a:xfrm>
            <a:off x="3200400" y="2761488"/>
            <a:ext cx="2011680" cy="512064"/>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Lowest on-time performance; supplier fragmentation</a:t>
            </a:r>
            <a:endParaRPr lang="en-US" sz="950" dirty="0"/>
          </a:p>
        </p:txBody>
      </p:sp>
      <p:sp>
        <p:nvSpPr>
          <p:cNvPr id="25" name="Shape 22"/>
          <p:cNvSpPr/>
          <p:nvPr/>
        </p:nvSpPr>
        <p:spPr>
          <a:xfrm>
            <a:off x="457200" y="3396996"/>
            <a:ext cx="4892040" cy="621792"/>
          </a:xfrm>
          <a:prstGeom prst="rect">
            <a:avLst/>
          </a:prstGeom>
          <a:solidFill>
            <a:srgbClr val="FFFFFF"/>
          </a:solidFill>
          <a:ln w="12700">
            <a:solidFill>
              <a:srgbClr val="E2E8F0"/>
            </a:solidFill>
            <a:prstDash val="solid"/>
          </a:ln>
        </p:spPr>
        <p:txBody>
          <a:bodyPr/>
          <a:lstStyle/>
          <a:p>
            <a:endParaRPr lang="en-US"/>
          </a:p>
        </p:txBody>
      </p:sp>
      <p:sp>
        <p:nvSpPr>
          <p:cNvPr id="26" name="Shape 23"/>
          <p:cNvSpPr/>
          <p:nvPr/>
        </p:nvSpPr>
        <p:spPr>
          <a:xfrm>
            <a:off x="457200" y="3396996"/>
            <a:ext cx="64008" cy="621792"/>
          </a:xfrm>
          <a:prstGeom prst="rect">
            <a:avLst/>
          </a:prstGeom>
          <a:solidFill>
            <a:srgbClr val="F59E0B"/>
          </a:solidFill>
          <a:ln/>
        </p:spPr>
        <p:txBody>
          <a:bodyPr/>
          <a:lstStyle/>
          <a:p>
            <a:endParaRPr lang="en-US"/>
          </a:p>
        </p:txBody>
      </p:sp>
      <p:sp>
        <p:nvSpPr>
          <p:cNvPr id="27" name="Text 24"/>
          <p:cNvSpPr/>
          <p:nvPr/>
        </p:nvSpPr>
        <p:spPr>
          <a:xfrm>
            <a:off x="658368" y="3451860"/>
            <a:ext cx="1417320" cy="512064"/>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COMP042</a:t>
            </a:r>
            <a:endParaRPr lang="en-US" sz="1400" dirty="0"/>
          </a:p>
        </p:txBody>
      </p:sp>
      <p:sp>
        <p:nvSpPr>
          <p:cNvPr id="28" name="Text 25"/>
          <p:cNvSpPr/>
          <p:nvPr/>
        </p:nvSpPr>
        <p:spPr>
          <a:xfrm>
            <a:off x="2057400" y="3451860"/>
            <a:ext cx="1143000" cy="512064"/>
          </a:xfrm>
          <a:prstGeom prst="rect">
            <a:avLst/>
          </a:prstGeom>
          <a:noFill/>
          <a:ln/>
        </p:spPr>
        <p:txBody>
          <a:bodyPr wrap="square" lIns="0" tIns="0" rIns="0" bIns="0" rtlCol="0" anchor="ctr"/>
          <a:lstStyle/>
          <a:p>
            <a:pPr marL="0" indent="0">
              <a:buNone/>
            </a:pPr>
            <a:r>
              <a:rPr lang="en-US" sz="1250" b="1" dirty="0">
                <a:solidFill>
                  <a:srgbClr val="B45309"/>
                </a:solidFill>
                <a:latin typeface="Trebuchet MS" pitchFamily="34" charset="0"/>
                <a:ea typeface="Trebuchet MS" pitchFamily="34" charset="-122"/>
                <a:cs typeface="Trebuchet MS" pitchFamily="34" charset="-120"/>
              </a:rPr>
              <a:t>15.1 days</a:t>
            </a:r>
            <a:endParaRPr lang="en-US" sz="1250" dirty="0"/>
          </a:p>
        </p:txBody>
      </p:sp>
      <p:sp>
        <p:nvSpPr>
          <p:cNvPr id="29" name="Text 26"/>
          <p:cNvSpPr/>
          <p:nvPr/>
        </p:nvSpPr>
        <p:spPr>
          <a:xfrm>
            <a:off x="3200400" y="3451860"/>
            <a:ext cx="2011680" cy="512064"/>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Medium risk; longest average delivery timeline</a:t>
            </a:r>
            <a:endParaRPr lang="en-US" sz="950" dirty="0"/>
          </a:p>
        </p:txBody>
      </p:sp>
      <p:sp>
        <p:nvSpPr>
          <p:cNvPr id="30" name="Shape 27"/>
          <p:cNvSpPr/>
          <p:nvPr/>
        </p:nvSpPr>
        <p:spPr>
          <a:xfrm>
            <a:off x="457200" y="4087368"/>
            <a:ext cx="4892040" cy="621792"/>
          </a:xfrm>
          <a:prstGeom prst="rect">
            <a:avLst/>
          </a:prstGeom>
          <a:solidFill>
            <a:srgbClr val="FFFFFF"/>
          </a:solidFill>
          <a:ln w="12700">
            <a:solidFill>
              <a:srgbClr val="E2E8F0"/>
            </a:solidFill>
            <a:prstDash val="solid"/>
          </a:ln>
        </p:spPr>
        <p:txBody>
          <a:bodyPr/>
          <a:lstStyle/>
          <a:p>
            <a:endParaRPr lang="en-US"/>
          </a:p>
        </p:txBody>
      </p:sp>
      <p:sp>
        <p:nvSpPr>
          <p:cNvPr id="31" name="Shape 28"/>
          <p:cNvSpPr/>
          <p:nvPr/>
        </p:nvSpPr>
        <p:spPr>
          <a:xfrm>
            <a:off x="457200" y="4087368"/>
            <a:ext cx="64008" cy="621792"/>
          </a:xfrm>
          <a:prstGeom prst="rect">
            <a:avLst/>
          </a:prstGeom>
          <a:solidFill>
            <a:srgbClr val="F59E0B"/>
          </a:solidFill>
          <a:ln/>
        </p:spPr>
        <p:txBody>
          <a:bodyPr/>
          <a:lstStyle/>
          <a:p>
            <a:endParaRPr lang="en-US"/>
          </a:p>
        </p:txBody>
      </p:sp>
      <p:sp>
        <p:nvSpPr>
          <p:cNvPr id="32" name="Text 29"/>
          <p:cNvSpPr/>
          <p:nvPr/>
        </p:nvSpPr>
        <p:spPr>
          <a:xfrm>
            <a:off x="658368" y="4142232"/>
            <a:ext cx="1417320" cy="512064"/>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COMP043</a:t>
            </a:r>
            <a:endParaRPr lang="en-US" sz="1400" dirty="0"/>
          </a:p>
        </p:txBody>
      </p:sp>
      <p:sp>
        <p:nvSpPr>
          <p:cNvPr id="33" name="Text 30"/>
          <p:cNvSpPr/>
          <p:nvPr/>
        </p:nvSpPr>
        <p:spPr>
          <a:xfrm>
            <a:off x="2057400" y="4142232"/>
            <a:ext cx="1143000" cy="512064"/>
          </a:xfrm>
          <a:prstGeom prst="rect">
            <a:avLst/>
          </a:prstGeom>
          <a:noFill/>
          <a:ln/>
        </p:spPr>
        <p:txBody>
          <a:bodyPr wrap="square" lIns="0" tIns="0" rIns="0" bIns="0" rtlCol="0" anchor="ctr"/>
          <a:lstStyle/>
          <a:p>
            <a:pPr marL="0" indent="0">
              <a:buNone/>
            </a:pPr>
            <a:r>
              <a:rPr lang="en-US" sz="1250" b="1" dirty="0">
                <a:solidFill>
                  <a:srgbClr val="B45309"/>
                </a:solidFill>
                <a:latin typeface="Trebuchet MS" pitchFamily="34" charset="0"/>
                <a:ea typeface="Trebuchet MS" pitchFamily="34" charset="-122"/>
                <a:cs typeface="Trebuchet MS" pitchFamily="34" charset="-120"/>
              </a:rPr>
              <a:t>4.89% defect</a:t>
            </a:r>
            <a:endParaRPr lang="en-US" sz="1250" dirty="0"/>
          </a:p>
        </p:txBody>
      </p:sp>
      <p:sp>
        <p:nvSpPr>
          <p:cNvPr id="34" name="Text 31"/>
          <p:cNvSpPr/>
          <p:nvPr/>
        </p:nvSpPr>
        <p:spPr>
          <a:xfrm>
            <a:off x="3200400" y="4142232"/>
            <a:ext cx="2011680" cy="512064"/>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Low risk, but quality-driven compliance concern</a:t>
            </a:r>
            <a:endParaRPr lang="en-US" sz="950" dirty="0"/>
          </a:p>
        </p:txBody>
      </p:sp>
      <p:sp>
        <p:nvSpPr>
          <p:cNvPr id="35" name="Shape 32"/>
          <p:cNvSpPr/>
          <p:nvPr/>
        </p:nvSpPr>
        <p:spPr>
          <a:xfrm>
            <a:off x="5623560" y="1325880"/>
            <a:ext cx="3063240" cy="3383280"/>
          </a:xfrm>
          <a:prstGeom prst="rect">
            <a:avLst/>
          </a:prstGeom>
          <a:solidFill>
            <a:srgbClr val="FFFFFF"/>
          </a:solidFill>
          <a:ln w="12700">
            <a:solidFill>
              <a:srgbClr val="E2E8F0"/>
            </a:solidFill>
            <a:prstDash val="solid"/>
          </a:ln>
          <a:effectLst>
            <a:outerShdw blurRad="101600" dist="38100" dir="8100000" algn="bl" rotWithShape="0">
              <a:srgbClr val="0F172A">
                <a:alpha val="18000"/>
              </a:srgbClr>
            </a:outerShdw>
          </a:effectLst>
        </p:spPr>
        <p:txBody>
          <a:bodyPr/>
          <a:lstStyle/>
          <a:p>
            <a:endParaRPr lang="en-US"/>
          </a:p>
        </p:txBody>
      </p:sp>
      <p:sp>
        <p:nvSpPr>
          <p:cNvPr id="36" name="Text 33"/>
          <p:cNvSpPr/>
          <p:nvPr/>
        </p:nvSpPr>
        <p:spPr>
          <a:xfrm>
            <a:off x="5824728" y="1490472"/>
            <a:ext cx="2697480" cy="274320"/>
          </a:xfrm>
          <a:prstGeom prst="rect">
            <a:avLst/>
          </a:prstGeom>
          <a:noFill/>
          <a:ln/>
        </p:spPr>
        <p:txBody>
          <a:bodyPr wrap="square" lIns="0" tIns="0" rIns="0" bIns="0" rtlCol="0" anchor="ctr"/>
          <a:lstStyle/>
          <a:p>
            <a:pPr marL="0" indent="0">
              <a:buNone/>
            </a:pPr>
            <a:r>
              <a:rPr lang="en-US" sz="1050" b="1" kern="0" spc="100" dirty="0">
                <a:solidFill>
                  <a:srgbClr val="334155"/>
                </a:solidFill>
                <a:latin typeface="Calibri" pitchFamily="34" charset="0"/>
                <a:ea typeface="Calibri" pitchFamily="34" charset="-122"/>
                <a:cs typeface="Calibri" pitchFamily="34" charset="-120"/>
              </a:rPr>
              <a:t>AVG DELIVERY DAYS BY RISK LEVEL</a:t>
            </a:r>
            <a:endParaRPr lang="en-US" sz="1050" dirty="0"/>
          </a:p>
        </p:txBody>
      </p:sp>
      <p:graphicFrame>
        <p:nvGraphicFramePr>
          <p:cNvPr id="37" name="Chart 0"/>
          <p:cNvGraphicFramePr/>
          <p:nvPr/>
        </p:nvGraphicFramePr>
        <p:xfrm>
          <a:off x="5733288" y="1828800"/>
          <a:ext cx="2807208" cy="27432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93B"/>
          </a:solidFill>
          <a:ln/>
        </p:spPr>
        <p:txBody>
          <a:bodyPr/>
          <a:lstStyle/>
          <a:p>
            <a:endParaRPr lang="en-US"/>
          </a:p>
        </p:txBody>
      </p:sp>
      <p:sp>
        <p:nvSpPr>
          <p:cNvPr id="3" name="Shape 1"/>
          <p:cNvSpPr/>
          <p:nvPr/>
        </p:nvSpPr>
        <p:spPr>
          <a:xfrm>
            <a:off x="0" y="1051560"/>
            <a:ext cx="9144000" cy="45720"/>
          </a:xfrm>
          <a:prstGeom prst="rect">
            <a:avLst/>
          </a:prstGeom>
          <a:solidFill>
            <a:srgbClr val="F59E0B"/>
          </a:solidFill>
          <a:ln/>
        </p:spPr>
        <p:txBody>
          <a:bodyPr/>
          <a:lstStyle/>
          <a:p>
            <a:endParaRPr lang="en-US"/>
          </a:p>
        </p:txBody>
      </p:sp>
      <p:sp>
        <p:nvSpPr>
          <p:cNvPr id="4" name="Shape 2"/>
          <p:cNvSpPr/>
          <p:nvPr/>
        </p:nvSpPr>
        <p:spPr>
          <a:xfrm>
            <a:off x="457200" y="256032"/>
            <a:ext cx="548640" cy="548640"/>
          </a:xfrm>
          <a:prstGeom prst="rect">
            <a:avLst/>
          </a:prstGeom>
          <a:solidFill>
            <a:srgbClr val="334155"/>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566928" y="365760"/>
            <a:ext cx="329184" cy="329184"/>
          </a:xfrm>
          <a:prstGeom prst="rect">
            <a:avLst/>
          </a:prstGeom>
        </p:spPr>
      </p:pic>
      <p:sp>
        <p:nvSpPr>
          <p:cNvPr id="6" name="Text 3"/>
          <p:cNvSpPr/>
          <p:nvPr/>
        </p:nvSpPr>
        <p:spPr>
          <a:xfrm>
            <a:off x="1188720" y="256032"/>
            <a:ext cx="7498080" cy="256032"/>
          </a:xfrm>
          <a:prstGeom prst="rect">
            <a:avLst/>
          </a:prstGeom>
          <a:noFill/>
          <a:ln/>
        </p:spPr>
        <p:txBody>
          <a:bodyPr wrap="square" lIns="0" tIns="0" rIns="0" bIns="0" rtlCol="0" anchor="ctr"/>
          <a:lstStyle/>
          <a:p>
            <a:pPr marL="0" indent="0">
              <a:buNone/>
            </a:pPr>
            <a:r>
              <a:rPr lang="en-US" sz="1100" b="1" kern="0" spc="200" dirty="0">
                <a:solidFill>
                  <a:srgbClr val="FBBF24"/>
                </a:solidFill>
                <a:latin typeface="Calibri" pitchFamily="34" charset="0"/>
                <a:ea typeface="Calibri" pitchFamily="34" charset="-122"/>
                <a:cs typeface="Calibri" pitchFamily="34" charset="-120"/>
              </a:rPr>
              <a:t>COMPLIANCE IMPLICATIONS</a:t>
            </a:r>
            <a:endParaRPr lang="en-US" sz="1100" dirty="0"/>
          </a:p>
        </p:txBody>
      </p:sp>
      <p:sp>
        <p:nvSpPr>
          <p:cNvPr id="7" name="Text 4"/>
          <p:cNvSpPr/>
          <p:nvPr/>
        </p:nvSpPr>
        <p:spPr>
          <a:xfrm>
            <a:off x="1188720" y="475488"/>
            <a:ext cx="7498080" cy="45720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Where Variability Becomes Exposure</a:t>
            </a:r>
            <a:endParaRPr lang="en-US" sz="2400" dirty="0"/>
          </a:p>
        </p:txBody>
      </p:sp>
      <p:sp>
        <p:nvSpPr>
          <p:cNvPr id="8" name="Text 5"/>
          <p:cNvSpPr/>
          <p:nvPr/>
        </p:nvSpPr>
        <p:spPr>
          <a:xfrm>
            <a:off x="457200" y="4864608"/>
            <a:ext cx="548640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Supply Chain Issue Compliance Report</a:t>
            </a:r>
            <a:endParaRPr lang="en-US" sz="800" dirty="0"/>
          </a:p>
        </p:txBody>
      </p:sp>
      <p:sp>
        <p:nvSpPr>
          <p:cNvPr id="9" name="Text 6"/>
          <p:cNvSpPr/>
          <p:nvPr/>
        </p:nvSpPr>
        <p:spPr>
          <a:xfrm>
            <a:off x="7315200" y="4864608"/>
            <a:ext cx="1371600" cy="228600"/>
          </a:xfrm>
          <a:prstGeom prst="rect">
            <a:avLst/>
          </a:prstGeom>
          <a:noFill/>
          <a:ln/>
        </p:spPr>
        <p:txBody>
          <a:bodyPr wrap="square" lIns="0" tIns="0" rIns="0" bIns="0"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Confidential</a:t>
            </a:r>
            <a:endParaRPr lang="en-US" sz="800" dirty="0"/>
          </a:p>
        </p:txBody>
      </p:sp>
      <p:sp>
        <p:nvSpPr>
          <p:cNvPr id="10" name="Shape 7"/>
          <p:cNvSpPr/>
          <p:nvPr/>
        </p:nvSpPr>
        <p:spPr>
          <a:xfrm>
            <a:off x="457200" y="1325880"/>
            <a:ext cx="4160520" cy="3246120"/>
          </a:xfrm>
          <a:prstGeom prst="rect">
            <a:avLst/>
          </a:prstGeom>
          <a:solidFill>
            <a:srgbClr val="FFFFFF"/>
          </a:solidFill>
          <a:ln w="12700">
            <a:solidFill>
              <a:srgbClr val="E2E8F0"/>
            </a:solidFill>
            <a:prstDash val="solid"/>
          </a:ln>
          <a:effectLst>
            <a:outerShdw blurRad="101600" dist="38100" dir="8100000" algn="bl" rotWithShape="0">
              <a:srgbClr val="0F172A">
                <a:alpha val="18000"/>
              </a:srgbClr>
            </a:outerShdw>
          </a:effectLst>
        </p:spPr>
        <p:txBody>
          <a:bodyPr/>
          <a:lstStyle/>
          <a:p>
            <a:endParaRPr lang="en-US"/>
          </a:p>
        </p:txBody>
      </p:sp>
      <p:sp>
        <p:nvSpPr>
          <p:cNvPr id="11" name="Text 8"/>
          <p:cNvSpPr/>
          <p:nvPr/>
        </p:nvSpPr>
        <p:spPr>
          <a:xfrm>
            <a:off x="685800" y="1508760"/>
            <a:ext cx="3749040" cy="274320"/>
          </a:xfrm>
          <a:prstGeom prst="rect">
            <a:avLst/>
          </a:prstGeom>
          <a:noFill/>
          <a:ln/>
        </p:spPr>
        <p:txBody>
          <a:bodyPr wrap="square" lIns="0" tIns="0" rIns="0" bIns="0" rtlCol="0" anchor="ctr"/>
          <a:lstStyle/>
          <a:p>
            <a:pPr marL="0" indent="0">
              <a:buNone/>
            </a:pPr>
            <a:r>
              <a:rPr lang="en-US" sz="1100" b="1" kern="0" spc="150" dirty="0">
                <a:solidFill>
                  <a:srgbClr val="B45309"/>
                </a:solidFill>
                <a:latin typeface="Calibri" pitchFamily="34" charset="0"/>
                <a:ea typeface="Calibri" pitchFamily="34" charset="-122"/>
                <a:cs typeface="Calibri" pitchFamily="34" charset="-120"/>
              </a:rPr>
              <a:t>HOW EXPOSURE ARISES</a:t>
            </a:r>
            <a:endParaRPr lang="en-US" sz="1100" dirty="0"/>
          </a:p>
        </p:txBody>
      </p:sp>
      <p:sp>
        <p:nvSpPr>
          <p:cNvPr id="12" name="Text 9"/>
          <p:cNvSpPr/>
          <p:nvPr/>
        </p:nvSpPr>
        <p:spPr>
          <a:xfrm>
            <a:off x="685800" y="1874520"/>
            <a:ext cx="3749040" cy="2560320"/>
          </a:xfrm>
          <a:prstGeom prst="rect">
            <a:avLst/>
          </a:prstGeom>
          <a:noFill/>
          <a:ln/>
        </p:spPr>
        <p:txBody>
          <a:bodyPr wrap="square" lIns="0" tIns="0" rIns="0" bIns="0" rtlCol="0" anchor="t"/>
          <a:lstStyle/>
          <a:p>
            <a:pPr marL="177800" indent="-177800">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Missed production windows from delivery variability</a:t>
            </a:r>
            <a:endParaRPr lang="en-US" sz="1250" dirty="0"/>
          </a:p>
          <a:p>
            <a:pPr marL="177800" indent="-177800">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Unplanned substitutions and expedited logistics exceptions</a:t>
            </a:r>
            <a:endParaRPr lang="en-US" sz="1250" dirty="0"/>
          </a:p>
          <a:p>
            <a:pPr marL="177800" indent="-177800">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Additional quality review and incoming inspection</a:t>
            </a:r>
            <a:endParaRPr lang="en-US" sz="1250" dirty="0"/>
          </a:p>
          <a:p>
            <a:pPr marL="177800" indent="-177800">
              <a:buSzPct val="100000"/>
              <a:buChar char="•"/>
            </a:pPr>
            <a:r>
              <a:rPr lang="en-US" sz="1250" dirty="0">
                <a:solidFill>
                  <a:srgbClr val="334155"/>
                </a:solidFill>
                <a:latin typeface="Calibri" pitchFamily="34" charset="0"/>
                <a:ea typeface="Calibri" pitchFamily="34" charset="-122"/>
                <a:cs typeface="Calibri" pitchFamily="34" charset="-120"/>
              </a:rPr>
              <a:t>Documented deviation handling and supplier corrective action</a:t>
            </a:r>
            <a:endParaRPr lang="en-US" sz="1250" dirty="0"/>
          </a:p>
        </p:txBody>
      </p:sp>
      <p:sp>
        <p:nvSpPr>
          <p:cNvPr id="13" name="Shape 10"/>
          <p:cNvSpPr/>
          <p:nvPr/>
        </p:nvSpPr>
        <p:spPr>
          <a:xfrm>
            <a:off x="4800600" y="1325880"/>
            <a:ext cx="3886200" cy="3246120"/>
          </a:xfrm>
          <a:prstGeom prst="rect">
            <a:avLst/>
          </a:prstGeom>
          <a:solidFill>
            <a:srgbClr val="1E293B"/>
          </a:solidFill>
          <a:ln/>
        </p:spPr>
        <p:txBody>
          <a:bodyPr/>
          <a:lstStyle/>
          <a:p>
            <a:endParaRPr lang="en-US"/>
          </a:p>
        </p:txBody>
      </p:sp>
      <p:sp>
        <p:nvSpPr>
          <p:cNvPr id="14" name="Shape 11"/>
          <p:cNvSpPr/>
          <p:nvPr/>
        </p:nvSpPr>
        <p:spPr>
          <a:xfrm>
            <a:off x="4800600" y="1325880"/>
            <a:ext cx="3886200" cy="54864"/>
          </a:xfrm>
          <a:prstGeom prst="rect">
            <a:avLst/>
          </a:prstGeom>
          <a:solidFill>
            <a:srgbClr val="F59E0B"/>
          </a:solidFill>
          <a:ln/>
        </p:spPr>
        <p:txBody>
          <a:bodyPr/>
          <a:lstStyle/>
          <a:p>
            <a:endParaRPr lang="en-US"/>
          </a:p>
        </p:txBody>
      </p:sp>
      <p:sp>
        <p:nvSpPr>
          <p:cNvPr id="15" name="Text 12"/>
          <p:cNvSpPr/>
          <p:nvPr/>
        </p:nvSpPr>
        <p:spPr>
          <a:xfrm>
            <a:off x="5029200" y="1536192"/>
            <a:ext cx="3474720" cy="274320"/>
          </a:xfrm>
          <a:prstGeom prst="rect">
            <a:avLst/>
          </a:prstGeom>
          <a:noFill/>
          <a:ln/>
        </p:spPr>
        <p:txBody>
          <a:bodyPr wrap="square" lIns="0" tIns="0" rIns="0" bIns="0" rtlCol="0" anchor="ctr"/>
          <a:lstStyle/>
          <a:p>
            <a:pPr marL="0" indent="0">
              <a:buNone/>
            </a:pPr>
            <a:r>
              <a:rPr lang="en-US" sz="1100" b="1" kern="0" spc="100" dirty="0">
                <a:solidFill>
                  <a:srgbClr val="FBBF24"/>
                </a:solidFill>
                <a:latin typeface="Calibri" pitchFamily="34" charset="0"/>
                <a:ea typeface="Calibri" pitchFamily="34" charset="-122"/>
                <a:cs typeface="Calibri" pitchFamily="34" charset="-120"/>
              </a:rPr>
              <a:t>COMPLIANCE-SENSITIVE COMPONENTS</a:t>
            </a:r>
            <a:endParaRPr lang="en-US" sz="1100" dirty="0"/>
          </a:p>
        </p:txBody>
      </p:sp>
      <p:sp>
        <p:nvSpPr>
          <p:cNvPr id="16" name="Text 13"/>
          <p:cNvSpPr/>
          <p:nvPr/>
        </p:nvSpPr>
        <p:spPr>
          <a:xfrm>
            <a:off x="5029200" y="1938528"/>
            <a:ext cx="3474720" cy="27432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CARB123</a:t>
            </a:r>
            <a:endParaRPr lang="en-US" sz="1400" dirty="0"/>
          </a:p>
        </p:txBody>
      </p:sp>
      <p:sp>
        <p:nvSpPr>
          <p:cNvPr id="17" name="Text 14"/>
          <p:cNvSpPr/>
          <p:nvPr/>
        </p:nvSpPr>
        <p:spPr>
          <a:xfrm>
            <a:off x="5029200" y="2212848"/>
            <a:ext cx="3429000" cy="5029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High-risk entries with on-time delivery as low as 85%</a:t>
            </a:r>
            <a:endParaRPr lang="en-US" sz="1100" dirty="0"/>
          </a:p>
        </p:txBody>
      </p:sp>
      <p:sp>
        <p:nvSpPr>
          <p:cNvPr id="18" name="Shape 15"/>
          <p:cNvSpPr/>
          <p:nvPr/>
        </p:nvSpPr>
        <p:spPr>
          <a:xfrm>
            <a:off x="5029200" y="2724912"/>
            <a:ext cx="3429000" cy="10973"/>
          </a:xfrm>
          <a:prstGeom prst="rect">
            <a:avLst/>
          </a:prstGeom>
          <a:solidFill>
            <a:srgbClr val="475569"/>
          </a:solidFill>
          <a:ln/>
        </p:spPr>
        <p:txBody>
          <a:bodyPr/>
          <a:lstStyle/>
          <a:p>
            <a:endParaRPr lang="en-US"/>
          </a:p>
        </p:txBody>
      </p:sp>
      <p:sp>
        <p:nvSpPr>
          <p:cNvPr id="19" name="Text 16"/>
          <p:cNvSpPr/>
          <p:nvPr/>
        </p:nvSpPr>
        <p:spPr>
          <a:xfrm>
            <a:off x="5029200" y="2798064"/>
            <a:ext cx="3474720" cy="27432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COAT890</a:t>
            </a:r>
            <a:endParaRPr lang="en-US" sz="1400" dirty="0"/>
          </a:p>
        </p:txBody>
      </p:sp>
      <p:sp>
        <p:nvSpPr>
          <p:cNvPr id="20" name="Text 17"/>
          <p:cNvSpPr/>
          <p:nvPr/>
        </p:nvSpPr>
        <p:spPr>
          <a:xfrm>
            <a:off x="5029200" y="3072384"/>
            <a:ext cx="3429000" cy="5029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84.2% on-time rate raises delay and exception risk</a:t>
            </a:r>
            <a:endParaRPr lang="en-US" sz="1100" dirty="0"/>
          </a:p>
        </p:txBody>
      </p:sp>
      <p:sp>
        <p:nvSpPr>
          <p:cNvPr id="21" name="Shape 18"/>
          <p:cNvSpPr/>
          <p:nvPr/>
        </p:nvSpPr>
        <p:spPr>
          <a:xfrm>
            <a:off x="5029200" y="3584448"/>
            <a:ext cx="3429000" cy="10973"/>
          </a:xfrm>
          <a:prstGeom prst="rect">
            <a:avLst/>
          </a:prstGeom>
          <a:solidFill>
            <a:srgbClr val="475569"/>
          </a:solidFill>
          <a:ln/>
        </p:spPr>
        <p:txBody>
          <a:bodyPr/>
          <a:lstStyle/>
          <a:p>
            <a:endParaRPr lang="en-US"/>
          </a:p>
        </p:txBody>
      </p:sp>
      <p:sp>
        <p:nvSpPr>
          <p:cNvPr id="22" name="Text 19"/>
          <p:cNvSpPr/>
          <p:nvPr/>
        </p:nvSpPr>
        <p:spPr>
          <a:xfrm>
            <a:off x="5029200" y="3657600"/>
            <a:ext cx="3474720" cy="27432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COMP043</a:t>
            </a:r>
            <a:endParaRPr lang="en-US" sz="1400" dirty="0"/>
          </a:p>
        </p:txBody>
      </p:sp>
      <p:sp>
        <p:nvSpPr>
          <p:cNvPr id="23" name="Text 20"/>
          <p:cNvSpPr/>
          <p:nvPr/>
        </p:nvSpPr>
        <p:spPr>
          <a:xfrm>
            <a:off x="5029200" y="3931920"/>
            <a:ext cx="3429000" cy="5029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4.89% defect rate despite Low-risk classification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93B"/>
          </a:solidFill>
          <a:ln/>
        </p:spPr>
        <p:txBody>
          <a:bodyPr/>
          <a:lstStyle/>
          <a:p>
            <a:endParaRPr lang="en-US"/>
          </a:p>
        </p:txBody>
      </p:sp>
      <p:sp>
        <p:nvSpPr>
          <p:cNvPr id="3" name="Shape 1"/>
          <p:cNvSpPr/>
          <p:nvPr/>
        </p:nvSpPr>
        <p:spPr>
          <a:xfrm>
            <a:off x="0" y="1051560"/>
            <a:ext cx="9144000" cy="45720"/>
          </a:xfrm>
          <a:prstGeom prst="rect">
            <a:avLst/>
          </a:prstGeom>
          <a:solidFill>
            <a:srgbClr val="F59E0B"/>
          </a:solidFill>
          <a:ln/>
        </p:spPr>
        <p:txBody>
          <a:bodyPr/>
          <a:lstStyle/>
          <a:p>
            <a:endParaRPr lang="en-US"/>
          </a:p>
        </p:txBody>
      </p:sp>
      <p:sp>
        <p:nvSpPr>
          <p:cNvPr id="4" name="Shape 2"/>
          <p:cNvSpPr/>
          <p:nvPr/>
        </p:nvSpPr>
        <p:spPr>
          <a:xfrm>
            <a:off x="457200" y="256032"/>
            <a:ext cx="548640" cy="548640"/>
          </a:xfrm>
          <a:prstGeom prst="rect">
            <a:avLst/>
          </a:prstGeom>
          <a:solidFill>
            <a:srgbClr val="334155"/>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566928" y="365760"/>
            <a:ext cx="329184" cy="329184"/>
          </a:xfrm>
          <a:prstGeom prst="rect">
            <a:avLst/>
          </a:prstGeom>
        </p:spPr>
      </p:pic>
      <p:sp>
        <p:nvSpPr>
          <p:cNvPr id="6" name="Text 3"/>
          <p:cNvSpPr/>
          <p:nvPr/>
        </p:nvSpPr>
        <p:spPr>
          <a:xfrm>
            <a:off x="1188720" y="256032"/>
            <a:ext cx="7498080" cy="256032"/>
          </a:xfrm>
          <a:prstGeom prst="rect">
            <a:avLst/>
          </a:prstGeom>
          <a:noFill/>
          <a:ln/>
        </p:spPr>
        <p:txBody>
          <a:bodyPr wrap="square" lIns="0" tIns="0" rIns="0" bIns="0" rtlCol="0" anchor="ctr"/>
          <a:lstStyle/>
          <a:p>
            <a:r>
              <a:rPr lang="en-US" sz="1100" b="1" kern="0" spc="200" dirty="0">
                <a:solidFill>
                  <a:srgbClr val="FBBF24"/>
                </a:solidFill>
                <a:latin typeface="Calibri" pitchFamily="34" charset="0"/>
                <a:ea typeface="Calibri" pitchFamily="34" charset="-122"/>
                <a:cs typeface="Calibri" pitchFamily="34" charset="-120"/>
              </a:rPr>
              <a:t>ROOT CAUSE ANALYSIS</a:t>
            </a:r>
            <a:endParaRPr lang="en-US" sz="1100" dirty="0"/>
          </a:p>
        </p:txBody>
      </p:sp>
      <p:sp>
        <p:nvSpPr>
          <p:cNvPr id="7" name="Text 4"/>
          <p:cNvSpPr/>
          <p:nvPr/>
        </p:nvSpPr>
        <p:spPr>
          <a:xfrm>
            <a:off x="1188720" y="475488"/>
            <a:ext cx="7498080" cy="45720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What Is Driving the Delays</a:t>
            </a:r>
            <a:endParaRPr lang="en-US" sz="2400" dirty="0"/>
          </a:p>
        </p:txBody>
      </p:sp>
      <p:sp>
        <p:nvSpPr>
          <p:cNvPr id="8" name="Text 5"/>
          <p:cNvSpPr/>
          <p:nvPr/>
        </p:nvSpPr>
        <p:spPr>
          <a:xfrm>
            <a:off x="457200" y="4864608"/>
            <a:ext cx="548640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Supply Chain Issue Compliance Report</a:t>
            </a:r>
            <a:endParaRPr lang="en-US" sz="800" dirty="0"/>
          </a:p>
        </p:txBody>
      </p:sp>
      <p:sp>
        <p:nvSpPr>
          <p:cNvPr id="9" name="Text 6"/>
          <p:cNvSpPr/>
          <p:nvPr/>
        </p:nvSpPr>
        <p:spPr>
          <a:xfrm>
            <a:off x="7315200" y="4864608"/>
            <a:ext cx="1371600" cy="228600"/>
          </a:xfrm>
          <a:prstGeom prst="rect">
            <a:avLst/>
          </a:prstGeom>
          <a:noFill/>
          <a:ln/>
        </p:spPr>
        <p:txBody>
          <a:bodyPr wrap="square" lIns="0" tIns="0" rIns="0" bIns="0"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Confidential</a:t>
            </a:r>
            <a:endParaRPr lang="en-US" sz="800" dirty="0"/>
          </a:p>
        </p:txBody>
      </p:sp>
      <p:sp>
        <p:nvSpPr>
          <p:cNvPr id="10" name="Shape 7"/>
          <p:cNvSpPr/>
          <p:nvPr/>
        </p:nvSpPr>
        <p:spPr>
          <a:xfrm>
            <a:off x="457200" y="1371600"/>
            <a:ext cx="2697480" cy="3063240"/>
          </a:xfrm>
          <a:prstGeom prst="rect">
            <a:avLst/>
          </a:prstGeom>
          <a:solidFill>
            <a:srgbClr val="FFFFFF"/>
          </a:solidFill>
          <a:ln w="12700">
            <a:solidFill>
              <a:srgbClr val="E2E8F0"/>
            </a:solidFill>
            <a:prstDash val="solid"/>
          </a:ln>
          <a:effectLst>
            <a:outerShdw blurRad="101600" dist="38100" dir="8100000" algn="bl" rotWithShape="0">
              <a:srgbClr val="0F172A">
                <a:alpha val="18000"/>
              </a:srgbClr>
            </a:outerShdw>
          </a:effectLst>
        </p:spPr>
        <p:txBody>
          <a:bodyPr/>
          <a:lstStyle/>
          <a:p>
            <a:endParaRPr lang="en-US"/>
          </a:p>
        </p:txBody>
      </p:sp>
      <p:sp>
        <p:nvSpPr>
          <p:cNvPr id="11" name="Shape 8"/>
          <p:cNvSpPr/>
          <p:nvPr/>
        </p:nvSpPr>
        <p:spPr>
          <a:xfrm>
            <a:off x="457200" y="1371600"/>
            <a:ext cx="2697480" cy="822960"/>
          </a:xfrm>
          <a:prstGeom prst="rect">
            <a:avLst/>
          </a:prstGeom>
          <a:solidFill>
            <a:srgbClr val="1E293B"/>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713232" y="1591056"/>
            <a:ext cx="384048" cy="384048"/>
          </a:xfrm>
          <a:prstGeom prst="rect">
            <a:avLst/>
          </a:prstGeom>
        </p:spPr>
      </p:pic>
      <p:sp>
        <p:nvSpPr>
          <p:cNvPr id="13" name="Text 9"/>
          <p:cNvSpPr/>
          <p:nvPr/>
        </p:nvSpPr>
        <p:spPr>
          <a:xfrm>
            <a:off x="1207008" y="1572768"/>
            <a:ext cx="1783080" cy="420624"/>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CARB123</a:t>
            </a:r>
            <a:endParaRPr lang="en-US" sz="1600" dirty="0"/>
          </a:p>
        </p:txBody>
      </p:sp>
      <p:sp>
        <p:nvSpPr>
          <p:cNvPr id="14" name="Text 10"/>
          <p:cNvSpPr/>
          <p:nvPr/>
        </p:nvSpPr>
        <p:spPr>
          <a:xfrm>
            <a:off x="676656" y="2304288"/>
            <a:ext cx="2258568" cy="640080"/>
          </a:xfrm>
          <a:prstGeom prst="rect">
            <a:avLst/>
          </a:prstGeom>
          <a:noFill/>
          <a:ln/>
        </p:spPr>
        <p:txBody>
          <a:bodyPr wrap="square" lIns="0" tIns="0" rIns="0" bIns="0" rtlCol="0" anchor="t"/>
          <a:lstStyle/>
          <a:p>
            <a:pPr marL="0" indent="0">
              <a:buNone/>
            </a:pPr>
            <a:r>
              <a:rPr lang="en-US" sz="1250" b="1" dirty="0">
                <a:solidFill>
                  <a:srgbClr val="B45309"/>
                </a:solidFill>
                <a:latin typeface="Trebuchet MS" pitchFamily="34" charset="0"/>
                <a:ea typeface="Trebuchet MS" pitchFamily="34" charset="-122"/>
                <a:cs typeface="Trebuchet MS" pitchFamily="34" charset="-120"/>
              </a:rPr>
              <a:t>Supplier capacity &amp; execution variability</a:t>
            </a:r>
            <a:endParaRPr lang="en-US" sz="1250" dirty="0"/>
          </a:p>
        </p:txBody>
      </p:sp>
      <p:sp>
        <p:nvSpPr>
          <p:cNvPr id="15" name="Text 11"/>
          <p:cNvSpPr/>
          <p:nvPr/>
        </p:nvSpPr>
        <p:spPr>
          <a:xfrm>
            <a:off x="676656" y="2944368"/>
            <a:ext cx="2258568" cy="137160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62-day delivery outlier, 24-day lead-time variance, and 4.41% defect rate point to capacity limits and quality rework at RawMatPlus.</a:t>
            </a:r>
            <a:endParaRPr lang="en-US" sz="1050" dirty="0"/>
          </a:p>
        </p:txBody>
      </p:sp>
      <p:sp>
        <p:nvSpPr>
          <p:cNvPr id="16" name="Shape 12"/>
          <p:cNvSpPr/>
          <p:nvPr/>
        </p:nvSpPr>
        <p:spPr>
          <a:xfrm>
            <a:off x="3287268" y="1371600"/>
            <a:ext cx="2697480" cy="3063240"/>
          </a:xfrm>
          <a:prstGeom prst="rect">
            <a:avLst/>
          </a:prstGeom>
          <a:solidFill>
            <a:srgbClr val="FFFFFF"/>
          </a:solidFill>
          <a:ln w="12700">
            <a:solidFill>
              <a:srgbClr val="E2E8F0"/>
            </a:solidFill>
            <a:prstDash val="solid"/>
          </a:ln>
          <a:effectLst>
            <a:outerShdw blurRad="101600" dist="38100" dir="8100000" algn="bl" rotWithShape="0">
              <a:srgbClr val="0F172A">
                <a:alpha val="18000"/>
              </a:srgbClr>
            </a:outerShdw>
          </a:effectLst>
        </p:spPr>
        <p:txBody>
          <a:bodyPr/>
          <a:lstStyle/>
          <a:p>
            <a:endParaRPr lang="en-US"/>
          </a:p>
        </p:txBody>
      </p:sp>
      <p:sp>
        <p:nvSpPr>
          <p:cNvPr id="17" name="Shape 13"/>
          <p:cNvSpPr/>
          <p:nvPr/>
        </p:nvSpPr>
        <p:spPr>
          <a:xfrm>
            <a:off x="3287268" y="1371600"/>
            <a:ext cx="2697480" cy="822960"/>
          </a:xfrm>
          <a:prstGeom prst="rect">
            <a:avLst/>
          </a:prstGeom>
          <a:solidFill>
            <a:srgbClr val="1E293B"/>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3543300" y="1591056"/>
            <a:ext cx="384048" cy="384048"/>
          </a:xfrm>
          <a:prstGeom prst="rect">
            <a:avLst/>
          </a:prstGeom>
        </p:spPr>
      </p:pic>
      <p:sp>
        <p:nvSpPr>
          <p:cNvPr id="19" name="Text 14"/>
          <p:cNvSpPr/>
          <p:nvPr/>
        </p:nvSpPr>
        <p:spPr>
          <a:xfrm>
            <a:off x="4037076" y="1572768"/>
            <a:ext cx="1783080" cy="420624"/>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BIND567</a:t>
            </a:r>
            <a:endParaRPr lang="en-US" sz="1600" dirty="0"/>
          </a:p>
        </p:txBody>
      </p:sp>
      <p:sp>
        <p:nvSpPr>
          <p:cNvPr id="20" name="Text 15"/>
          <p:cNvSpPr/>
          <p:nvPr/>
        </p:nvSpPr>
        <p:spPr>
          <a:xfrm>
            <a:off x="3506724" y="2304288"/>
            <a:ext cx="2258568" cy="640080"/>
          </a:xfrm>
          <a:prstGeom prst="rect">
            <a:avLst/>
          </a:prstGeom>
          <a:noFill/>
          <a:ln/>
        </p:spPr>
        <p:txBody>
          <a:bodyPr wrap="square" lIns="0" tIns="0" rIns="0" bIns="0" rtlCol="0" anchor="t"/>
          <a:lstStyle/>
          <a:p>
            <a:pPr marL="0" indent="0">
              <a:buNone/>
            </a:pPr>
            <a:r>
              <a:rPr lang="en-US" sz="1250" b="1" dirty="0">
                <a:solidFill>
                  <a:srgbClr val="B45309"/>
                </a:solidFill>
                <a:latin typeface="Trebuchet MS" pitchFamily="34" charset="0"/>
                <a:ea typeface="Trebuchet MS" pitchFamily="34" charset="-122"/>
                <a:cs typeface="Trebuchet MS" pitchFamily="34" charset="-120"/>
              </a:rPr>
              <a:t>Logistics disruption &amp; lead-time exposure</a:t>
            </a:r>
            <a:endParaRPr lang="en-US" sz="1250" dirty="0"/>
          </a:p>
        </p:txBody>
      </p:sp>
      <p:sp>
        <p:nvSpPr>
          <p:cNvPr id="21" name="Text 16"/>
          <p:cNvSpPr/>
          <p:nvPr/>
        </p:nvSpPr>
        <p:spPr>
          <a:xfrm>
            <a:off x="3506724" y="2944368"/>
            <a:ext cx="2258568" cy="137160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A 64-day timeline, 26-day variance, and 453-unit backorder — despite 99% on-time — signal transportation, not routine reliability, issues via EcoSupply.</a:t>
            </a:r>
            <a:endParaRPr lang="en-US" sz="1050" dirty="0"/>
          </a:p>
        </p:txBody>
      </p:sp>
      <p:sp>
        <p:nvSpPr>
          <p:cNvPr id="22" name="Shape 17"/>
          <p:cNvSpPr/>
          <p:nvPr/>
        </p:nvSpPr>
        <p:spPr>
          <a:xfrm>
            <a:off x="6117336" y="1371600"/>
            <a:ext cx="2697480" cy="3063240"/>
          </a:xfrm>
          <a:prstGeom prst="rect">
            <a:avLst/>
          </a:prstGeom>
          <a:solidFill>
            <a:srgbClr val="FFFFFF"/>
          </a:solidFill>
          <a:ln w="12700">
            <a:solidFill>
              <a:srgbClr val="E2E8F0"/>
            </a:solidFill>
            <a:prstDash val="solid"/>
          </a:ln>
          <a:effectLst>
            <a:outerShdw blurRad="101600" dist="38100" dir="8100000" algn="bl" rotWithShape="0">
              <a:srgbClr val="0F172A">
                <a:alpha val="18000"/>
              </a:srgbClr>
            </a:outerShdw>
          </a:effectLst>
        </p:spPr>
        <p:txBody>
          <a:bodyPr/>
          <a:lstStyle/>
          <a:p>
            <a:endParaRPr lang="en-US"/>
          </a:p>
        </p:txBody>
      </p:sp>
      <p:sp>
        <p:nvSpPr>
          <p:cNvPr id="23" name="Shape 18"/>
          <p:cNvSpPr/>
          <p:nvPr/>
        </p:nvSpPr>
        <p:spPr>
          <a:xfrm>
            <a:off x="6117336" y="1371600"/>
            <a:ext cx="2697480" cy="822960"/>
          </a:xfrm>
          <a:prstGeom prst="rect">
            <a:avLst/>
          </a:prstGeom>
          <a:solidFill>
            <a:srgbClr val="1E293B"/>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6373368" y="1591056"/>
            <a:ext cx="384048" cy="384048"/>
          </a:xfrm>
          <a:prstGeom prst="rect">
            <a:avLst/>
          </a:prstGeom>
        </p:spPr>
      </p:pic>
      <p:sp>
        <p:nvSpPr>
          <p:cNvPr id="25" name="Text 19"/>
          <p:cNvSpPr/>
          <p:nvPr/>
        </p:nvSpPr>
        <p:spPr>
          <a:xfrm>
            <a:off x="6867144" y="1572768"/>
            <a:ext cx="1783080" cy="420624"/>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COAT890</a:t>
            </a:r>
            <a:endParaRPr lang="en-US" sz="1600" dirty="0"/>
          </a:p>
        </p:txBody>
      </p:sp>
      <p:sp>
        <p:nvSpPr>
          <p:cNvPr id="26" name="Text 20"/>
          <p:cNvSpPr/>
          <p:nvPr/>
        </p:nvSpPr>
        <p:spPr>
          <a:xfrm>
            <a:off x="6336792" y="2304288"/>
            <a:ext cx="2258568" cy="640080"/>
          </a:xfrm>
          <a:prstGeom prst="rect">
            <a:avLst/>
          </a:prstGeom>
          <a:noFill/>
          <a:ln/>
        </p:spPr>
        <p:txBody>
          <a:bodyPr wrap="square" lIns="0" tIns="0" rIns="0" bIns="0" rtlCol="0" anchor="t"/>
          <a:lstStyle/>
          <a:p>
            <a:pPr marL="0" indent="0">
              <a:buNone/>
            </a:pPr>
            <a:r>
              <a:rPr lang="en-US" sz="1250" b="1" dirty="0">
                <a:solidFill>
                  <a:srgbClr val="B45309"/>
                </a:solidFill>
                <a:latin typeface="Trebuchet MS" pitchFamily="34" charset="0"/>
                <a:ea typeface="Trebuchet MS" pitchFamily="34" charset="-122"/>
                <a:cs typeface="Trebuchet MS" pitchFamily="34" charset="-120"/>
              </a:rPr>
              <a:t>Fragmentation, quality &amp; logistics gaps</a:t>
            </a:r>
            <a:endParaRPr lang="en-US" sz="1250" dirty="0"/>
          </a:p>
        </p:txBody>
      </p:sp>
      <p:sp>
        <p:nvSpPr>
          <p:cNvPr id="27" name="Text 21"/>
          <p:cNvSpPr/>
          <p:nvPr/>
        </p:nvSpPr>
        <p:spPr>
          <a:xfrm>
            <a:off x="6336792" y="2944368"/>
            <a:ext cx="2258568" cy="137160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Records span three suppliers with 81% on-time lows, a 60-day outlier, and 4.76% defects — forcing rework, holds, and substitutions.</a:t>
            </a:r>
            <a:endParaRPr lang="en-US" sz="1050" dirty="0"/>
          </a:p>
        </p:txBody>
      </p:sp>
      <p:sp>
        <p:nvSpPr>
          <p:cNvPr id="28" name="Shape 22"/>
          <p:cNvSpPr/>
          <p:nvPr/>
        </p:nvSpPr>
        <p:spPr>
          <a:xfrm>
            <a:off x="457200" y="4517136"/>
            <a:ext cx="8229600" cy="402336"/>
          </a:xfrm>
          <a:prstGeom prst="rect">
            <a:avLst/>
          </a:prstGeom>
          <a:solidFill>
            <a:srgbClr val="1E293B"/>
          </a:solidFill>
          <a:ln/>
        </p:spPr>
        <p:txBody>
          <a:bodyPr/>
          <a:lstStyle/>
          <a:p>
            <a:endParaRPr lang="en-US"/>
          </a:p>
        </p:txBody>
      </p:sp>
      <p:sp>
        <p:nvSpPr>
          <p:cNvPr id="29" name="Shape 23"/>
          <p:cNvSpPr/>
          <p:nvPr/>
        </p:nvSpPr>
        <p:spPr>
          <a:xfrm>
            <a:off x="457200" y="4517136"/>
            <a:ext cx="64008" cy="402336"/>
          </a:xfrm>
          <a:prstGeom prst="rect">
            <a:avLst/>
          </a:prstGeom>
          <a:solidFill>
            <a:srgbClr val="F59E0B"/>
          </a:solidFill>
          <a:ln/>
        </p:spPr>
        <p:txBody>
          <a:bodyPr/>
          <a:lstStyle/>
          <a:p>
            <a:endParaRPr lang="en-US"/>
          </a:p>
        </p:txBody>
      </p:sp>
      <p:sp>
        <p:nvSpPr>
          <p:cNvPr id="30" name="Text 24"/>
          <p:cNvSpPr/>
          <p:nvPr/>
        </p:nvSpPr>
        <p:spPr>
          <a:xfrm>
            <a:off x="658368" y="4517136"/>
            <a:ext cx="7863840" cy="402336"/>
          </a:xfrm>
          <a:prstGeom prst="rect">
            <a:avLst/>
          </a:prstGeom>
          <a:noFill/>
          <a:ln/>
        </p:spPr>
        <p:txBody>
          <a:bodyPr wrap="square" lIns="0" tIns="0" rIns="0" bIns="0" rtlCol="0" anchor="ctr"/>
          <a:lstStyle/>
          <a:p>
            <a:pPr marL="0" indent="0">
              <a:buNone/>
            </a:pPr>
            <a:r>
              <a:rPr lang="en-US" sz="1000" b="1" dirty="0">
                <a:solidFill>
                  <a:srgbClr val="FBBF24"/>
                </a:solidFill>
                <a:latin typeface="Calibri" pitchFamily="34" charset="0"/>
                <a:ea typeface="Calibri" pitchFamily="34" charset="-122"/>
                <a:cs typeface="Calibri" pitchFamily="34" charset="-120"/>
              </a:rPr>
              <a:t>Cross-component conclusion:  </a:t>
            </a:r>
            <a:r>
              <a:rPr lang="en-US" sz="1000" dirty="0">
                <a:solidFill>
                  <a:srgbClr val="E2E8F0"/>
                </a:solidFill>
                <a:latin typeface="Calibri" pitchFamily="34" charset="0"/>
                <a:ea typeface="Calibri" pitchFamily="34" charset="-122"/>
                <a:cs typeface="Calibri" pitchFamily="34" charset="-120"/>
              </a:rPr>
              <a:t>Delays stem from lead-time volatility, supplier-specific capacity limits, and quality rework — warranting targeted action by component, not one broad supplier fix.</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93B"/>
          </a:solidFill>
          <a:ln/>
        </p:spPr>
        <p:txBody>
          <a:bodyPr/>
          <a:lstStyle/>
          <a:p>
            <a:endParaRPr lang="en-US"/>
          </a:p>
        </p:txBody>
      </p:sp>
      <p:sp>
        <p:nvSpPr>
          <p:cNvPr id="3" name="Shape 1"/>
          <p:cNvSpPr/>
          <p:nvPr/>
        </p:nvSpPr>
        <p:spPr>
          <a:xfrm>
            <a:off x="0" y="1051560"/>
            <a:ext cx="9144000" cy="45720"/>
          </a:xfrm>
          <a:prstGeom prst="rect">
            <a:avLst/>
          </a:prstGeom>
          <a:solidFill>
            <a:srgbClr val="F59E0B"/>
          </a:solidFill>
          <a:ln/>
        </p:spPr>
        <p:txBody>
          <a:bodyPr/>
          <a:lstStyle/>
          <a:p>
            <a:endParaRPr lang="en-US"/>
          </a:p>
        </p:txBody>
      </p:sp>
      <p:sp>
        <p:nvSpPr>
          <p:cNvPr id="4" name="Shape 2"/>
          <p:cNvSpPr/>
          <p:nvPr/>
        </p:nvSpPr>
        <p:spPr>
          <a:xfrm>
            <a:off x="457200" y="256032"/>
            <a:ext cx="548640" cy="548640"/>
          </a:xfrm>
          <a:prstGeom prst="rect">
            <a:avLst/>
          </a:prstGeom>
          <a:solidFill>
            <a:srgbClr val="334155"/>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566928" y="365760"/>
            <a:ext cx="329184" cy="329184"/>
          </a:xfrm>
          <a:prstGeom prst="rect">
            <a:avLst/>
          </a:prstGeom>
        </p:spPr>
      </p:pic>
      <p:sp>
        <p:nvSpPr>
          <p:cNvPr id="6" name="Text 3"/>
          <p:cNvSpPr/>
          <p:nvPr/>
        </p:nvSpPr>
        <p:spPr>
          <a:xfrm>
            <a:off x="1188720" y="256032"/>
            <a:ext cx="7498080" cy="256032"/>
          </a:xfrm>
          <a:prstGeom prst="rect">
            <a:avLst/>
          </a:prstGeom>
          <a:noFill/>
          <a:ln/>
        </p:spPr>
        <p:txBody>
          <a:bodyPr wrap="square" lIns="0" tIns="0" rIns="0" bIns="0" rtlCol="0" anchor="ctr"/>
          <a:lstStyle/>
          <a:p>
            <a:pPr marL="0" indent="0">
              <a:buNone/>
            </a:pPr>
            <a:r>
              <a:rPr lang="en-US" sz="1100" b="1" kern="0" spc="200" dirty="0">
                <a:solidFill>
                  <a:srgbClr val="FBBF24"/>
                </a:solidFill>
                <a:latin typeface="Calibri" pitchFamily="34" charset="0"/>
                <a:ea typeface="Calibri" pitchFamily="34" charset="-122"/>
                <a:cs typeface="Calibri" pitchFamily="34" charset="-120"/>
              </a:rPr>
              <a:t>MITIGATION STRATEGIES</a:t>
            </a:r>
            <a:endParaRPr lang="en-US" sz="1100" dirty="0"/>
          </a:p>
        </p:txBody>
      </p:sp>
      <p:sp>
        <p:nvSpPr>
          <p:cNvPr id="7" name="Text 4"/>
          <p:cNvSpPr/>
          <p:nvPr/>
        </p:nvSpPr>
        <p:spPr>
          <a:xfrm>
            <a:off x="1188720" y="475488"/>
            <a:ext cx="7498080" cy="45720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A Phased Path to Resilience</a:t>
            </a:r>
            <a:endParaRPr lang="en-US" sz="2400" dirty="0"/>
          </a:p>
        </p:txBody>
      </p:sp>
      <p:sp>
        <p:nvSpPr>
          <p:cNvPr id="8" name="Text 5"/>
          <p:cNvSpPr/>
          <p:nvPr/>
        </p:nvSpPr>
        <p:spPr>
          <a:xfrm>
            <a:off x="457200" y="4864608"/>
            <a:ext cx="548640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Supply Chain Issue Compliance Report</a:t>
            </a:r>
            <a:endParaRPr lang="en-US" sz="800" dirty="0"/>
          </a:p>
        </p:txBody>
      </p:sp>
      <p:sp>
        <p:nvSpPr>
          <p:cNvPr id="9" name="Text 6"/>
          <p:cNvSpPr/>
          <p:nvPr/>
        </p:nvSpPr>
        <p:spPr>
          <a:xfrm>
            <a:off x="7315200" y="4864608"/>
            <a:ext cx="1371600" cy="228600"/>
          </a:xfrm>
          <a:prstGeom prst="rect">
            <a:avLst/>
          </a:prstGeom>
          <a:noFill/>
          <a:ln/>
        </p:spPr>
        <p:txBody>
          <a:bodyPr wrap="square" lIns="0" tIns="0" rIns="0" bIns="0"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Confidential</a:t>
            </a:r>
            <a:endParaRPr lang="en-US" sz="800" dirty="0"/>
          </a:p>
        </p:txBody>
      </p:sp>
      <p:sp>
        <p:nvSpPr>
          <p:cNvPr id="10" name="Shape 7"/>
          <p:cNvSpPr/>
          <p:nvPr/>
        </p:nvSpPr>
        <p:spPr>
          <a:xfrm>
            <a:off x="457200" y="1325880"/>
            <a:ext cx="2761488" cy="1481328"/>
          </a:xfrm>
          <a:prstGeom prst="rect">
            <a:avLst/>
          </a:prstGeom>
          <a:solidFill>
            <a:srgbClr val="FFFFFF"/>
          </a:solidFill>
          <a:ln w="12700">
            <a:solidFill>
              <a:srgbClr val="E2E8F0"/>
            </a:solidFill>
            <a:prstDash val="solid"/>
          </a:ln>
          <a:effectLst>
            <a:outerShdw blurRad="101600" dist="38100" dir="8100000" algn="bl" rotWithShape="0">
              <a:srgbClr val="0F172A">
                <a:alpha val="18000"/>
              </a:srgbClr>
            </a:outerShdw>
          </a:effectLst>
        </p:spPr>
        <p:txBody>
          <a:bodyPr/>
          <a:lstStyle/>
          <a:p>
            <a:endParaRPr lang="en-US"/>
          </a:p>
        </p:txBody>
      </p:sp>
      <p:sp>
        <p:nvSpPr>
          <p:cNvPr id="11" name="Shape 8"/>
          <p:cNvSpPr/>
          <p:nvPr/>
        </p:nvSpPr>
        <p:spPr>
          <a:xfrm>
            <a:off x="457200" y="1325880"/>
            <a:ext cx="64008" cy="1481328"/>
          </a:xfrm>
          <a:prstGeom prst="rect">
            <a:avLst/>
          </a:prstGeom>
          <a:solidFill>
            <a:srgbClr val="F59E0B"/>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694944" y="1545336"/>
            <a:ext cx="384048" cy="384048"/>
          </a:xfrm>
          <a:prstGeom prst="rect">
            <a:avLst/>
          </a:prstGeom>
        </p:spPr>
      </p:pic>
      <p:sp>
        <p:nvSpPr>
          <p:cNvPr id="13" name="Shape 9"/>
          <p:cNvSpPr/>
          <p:nvPr/>
        </p:nvSpPr>
        <p:spPr>
          <a:xfrm>
            <a:off x="2048256" y="1545336"/>
            <a:ext cx="987552" cy="292608"/>
          </a:xfrm>
          <a:prstGeom prst="rect">
            <a:avLst/>
          </a:prstGeom>
          <a:solidFill>
            <a:srgbClr val="1E293B"/>
          </a:solidFill>
          <a:ln/>
        </p:spPr>
        <p:txBody>
          <a:bodyPr/>
          <a:lstStyle/>
          <a:p>
            <a:endParaRPr lang="en-US"/>
          </a:p>
        </p:txBody>
      </p:sp>
      <p:sp>
        <p:nvSpPr>
          <p:cNvPr id="14" name="Text 10"/>
          <p:cNvSpPr/>
          <p:nvPr/>
        </p:nvSpPr>
        <p:spPr>
          <a:xfrm>
            <a:off x="2048256" y="1545336"/>
            <a:ext cx="987552" cy="292608"/>
          </a:xfrm>
          <a:prstGeom prst="rect">
            <a:avLst/>
          </a:prstGeom>
          <a:noFill/>
          <a:ln/>
        </p:spPr>
        <p:txBody>
          <a:bodyPr wrap="square" lIns="0" tIns="0" rIns="0" bIns="0" rtlCol="0" anchor="ctr"/>
          <a:lstStyle/>
          <a:p>
            <a:pPr marL="0" indent="0" algn="ctr">
              <a:buNone/>
            </a:pPr>
            <a:r>
              <a:rPr lang="en-US" sz="900" b="1" dirty="0">
                <a:solidFill>
                  <a:srgbClr val="FBBF24"/>
                </a:solidFill>
                <a:latin typeface="Calibri" pitchFamily="34" charset="0"/>
                <a:ea typeface="Calibri" pitchFamily="34" charset="-122"/>
                <a:cs typeface="Calibri" pitchFamily="34" charset="-120"/>
              </a:rPr>
              <a:t>0–30 days</a:t>
            </a:r>
            <a:endParaRPr lang="en-US" sz="900" dirty="0"/>
          </a:p>
        </p:txBody>
      </p:sp>
      <p:sp>
        <p:nvSpPr>
          <p:cNvPr id="15" name="Text 11"/>
          <p:cNvSpPr/>
          <p:nvPr/>
        </p:nvSpPr>
        <p:spPr>
          <a:xfrm>
            <a:off x="694944" y="2002536"/>
            <a:ext cx="2304288" cy="310896"/>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Segment suppliers by risk</a:t>
            </a:r>
            <a:endParaRPr lang="en-US" sz="1300" dirty="0"/>
          </a:p>
        </p:txBody>
      </p:sp>
      <p:sp>
        <p:nvSpPr>
          <p:cNvPr id="16" name="Text 12"/>
          <p:cNvSpPr/>
          <p:nvPr/>
        </p:nvSpPr>
        <p:spPr>
          <a:xfrm>
            <a:off x="694944" y="2295144"/>
            <a:ext cx="2304288" cy="475488"/>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Classify by delivery, on-time rate, lead-time variance, defects, and backorders.</a:t>
            </a:r>
            <a:endParaRPr lang="en-US" sz="950" dirty="0"/>
          </a:p>
        </p:txBody>
      </p:sp>
      <p:sp>
        <p:nvSpPr>
          <p:cNvPr id="17" name="Shape 13"/>
          <p:cNvSpPr/>
          <p:nvPr/>
        </p:nvSpPr>
        <p:spPr>
          <a:xfrm>
            <a:off x="3392424" y="1325880"/>
            <a:ext cx="2761488" cy="1481328"/>
          </a:xfrm>
          <a:prstGeom prst="rect">
            <a:avLst/>
          </a:prstGeom>
          <a:solidFill>
            <a:srgbClr val="FFFFFF"/>
          </a:solidFill>
          <a:ln w="12700">
            <a:solidFill>
              <a:srgbClr val="E2E8F0"/>
            </a:solidFill>
            <a:prstDash val="solid"/>
          </a:ln>
          <a:effectLst>
            <a:outerShdw blurRad="101600" dist="38100" dir="8100000" algn="bl" rotWithShape="0">
              <a:srgbClr val="0F172A">
                <a:alpha val="18000"/>
              </a:srgbClr>
            </a:outerShdw>
          </a:effectLst>
        </p:spPr>
        <p:txBody>
          <a:bodyPr/>
          <a:lstStyle/>
          <a:p>
            <a:endParaRPr lang="en-US"/>
          </a:p>
        </p:txBody>
      </p:sp>
      <p:sp>
        <p:nvSpPr>
          <p:cNvPr id="18" name="Shape 14"/>
          <p:cNvSpPr/>
          <p:nvPr/>
        </p:nvSpPr>
        <p:spPr>
          <a:xfrm>
            <a:off x="3392424" y="1325880"/>
            <a:ext cx="64008" cy="1481328"/>
          </a:xfrm>
          <a:prstGeom prst="rect">
            <a:avLst/>
          </a:prstGeom>
          <a:solidFill>
            <a:srgbClr val="F59E0B"/>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3630168" y="1545336"/>
            <a:ext cx="384048" cy="384048"/>
          </a:xfrm>
          <a:prstGeom prst="rect">
            <a:avLst/>
          </a:prstGeom>
        </p:spPr>
      </p:pic>
      <p:sp>
        <p:nvSpPr>
          <p:cNvPr id="20" name="Shape 15"/>
          <p:cNvSpPr/>
          <p:nvPr/>
        </p:nvSpPr>
        <p:spPr>
          <a:xfrm>
            <a:off x="4983480" y="1545336"/>
            <a:ext cx="987552" cy="292608"/>
          </a:xfrm>
          <a:prstGeom prst="rect">
            <a:avLst/>
          </a:prstGeom>
          <a:solidFill>
            <a:srgbClr val="1E293B"/>
          </a:solidFill>
          <a:ln/>
        </p:spPr>
        <p:txBody>
          <a:bodyPr/>
          <a:lstStyle/>
          <a:p>
            <a:endParaRPr lang="en-US"/>
          </a:p>
        </p:txBody>
      </p:sp>
      <p:sp>
        <p:nvSpPr>
          <p:cNvPr id="21" name="Text 16"/>
          <p:cNvSpPr/>
          <p:nvPr/>
        </p:nvSpPr>
        <p:spPr>
          <a:xfrm>
            <a:off x="4983480" y="1545336"/>
            <a:ext cx="987552" cy="292608"/>
          </a:xfrm>
          <a:prstGeom prst="rect">
            <a:avLst/>
          </a:prstGeom>
          <a:noFill/>
          <a:ln/>
        </p:spPr>
        <p:txBody>
          <a:bodyPr wrap="square" lIns="0" tIns="0" rIns="0" bIns="0" rtlCol="0" anchor="ctr"/>
          <a:lstStyle/>
          <a:p>
            <a:pPr marL="0" indent="0" algn="ctr">
              <a:buNone/>
            </a:pPr>
            <a:r>
              <a:rPr lang="en-US" sz="900" b="1" dirty="0">
                <a:solidFill>
                  <a:srgbClr val="FBBF24"/>
                </a:solidFill>
                <a:latin typeface="Calibri" pitchFamily="34" charset="0"/>
                <a:ea typeface="Calibri" pitchFamily="34" charset="-122"/>
                <a:cs typeface="Calibri" pitchFamily="34" charset="-120"/>
              </a:rPr>
              <a:t>30–60 days</a:t>
            </a:r>
            <a:endParaRPr lang="en-US" sz="900" dirty="0"/>
          </a:p>
        </p:txBody>
      </p:sp>
      <p:sp>
        <p:nvSpPr>
          <p:cNvPr id="22" name="Text 17"/>
          <p:cNvSpPr/>
          <p:nvPr/>
        </p:nvSpPr>
        <p:spPr>
          <a:xfrm>
            <a:off x="3630168" y="2002536"/>
            <a:ext cx="2304288" cy="310896"/>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Strengthen stock governance</a:t>
            </a:r>
            <a:endParaRPr lang="en-US" sz="1300" dirty="0"/>
          </a:p>
        </p:txBody>
      </p:sp>
      <p:sp>
        <p:nvSpPr>
          <p:cNvPr id="23" name="Text 18"/>
          <p:cNvSpPr/>
          <p:nvPr/>
        </p:nvSpPr>
        <p:spPr>
          <a:xfrm>
            <a:off x="3630168" y="2295144"/>
            <a:ext cx="2304288" cy="475488"/>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Reassess reorder points and safety stock for high-exposure components.</a:t>
            </a:r>
            <a:endParaRPr lang="en-US" sz="950" dirty="0"/>
          </a:p>
        </p:txBody>
      </p:sp>
      <p:sp>
        <p:nvSpPr>
          <p:cNvPr id="24" name="Shape 19"/>
          <p:cNvSpPr/>
          <p:nvPr/>
        </p:nvSpPr>
        <p:spPr>
          <a:xfrm>
            <a:off x="6327648" y="1325880"/>
            <a:ext cx="2761488" cy="1481328"/>
          </a:xfrm>
          <a:prstGeom prst="rect">
            <a:avLst/>
          </a:prstGeom>
          <a:solidFill>
            <a:srgbClr val="FFFFFF"/>
          </a:solidFill>
          <a:ln w="12700">
            <a:solidFill>
              <a:srgbClr val="E2E8F0"/>
            </a:solidFill>
            <a:prstDash val="solid"/>
          </a:ln>
          <a:effectLst>
            <a:outerShdw blurRad="101600" dist="38100" dir="8100000" algn="bl" rotWithShape="0">
              <a:srgbClr val="0F172A">
                <a:alpha val="18000"/>
              </a:srgbClr>
            </a:outerShdw>
          </a:effectLst>
        </p:spPr>
        <p:txBody>
          <a:bodyPr/>
          <a:lstStyle/>
          <a:p>
            <a:endParaRPr lang="en-US"/>
          </a:p>
        </p:txBody>
      </p:sp>
      <p:sp>
        <p:nvSpPr>
          <p:cNvPr id="25" name="Shape 20"/>
          <p:cNvSpPr/>
          <p:nvPr/>
        </p:nvSpPr>
        <p:spPr>
          <a:xfrm>
            <a:off x="6327648" y="1325880"/>
            <a:ext cx="64008" cy="1481328"/>
          </a:xfrm>
          <a:prstGeom prst="rect">
            <a:avLst/>
          </a:prstGeom>
          <a:solidFill>
            <a:srgbClr val="F59E0B"/>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6565392" y="1545336"/>
            <a:ext cx="384048" cy="384048"/>
          </a:xfrm>
          <a:prstGeom prst="rect">
            <a:avLst/>
          </a:prstGeom>
        </p:spPr>
      </p:pic>
      <p:sp>
        <p:nvSpPr>
          <p:cNvPr id="27" name="Shape 21"/>
          <p:cNvSpPr/>
          <p:nvPr/>
        </p:nvSpPr>
        <p:spPr>
          <a:xfrm>
            <a:off x="7918704" y="1545336"/>
            <a:ext cx="987552" cy="292608"/>
          </a:xfrm>
          <a:prstGeom prst="rect">
            <a:avLst/>
          </a:prstGeom>
          <a:solidFill>
            <a:srgbClr val="1E293B"/>
          </a:solidFill>
          <a:ln/>
        </p:spPr>
        <p:txBody>
          <a:bodyPr/>
          <a:lstStyle/>
          <a:p>
            <a:endParaRPr lang="en-US"/>
          </a:p>
        </p:txBody>
      </p:sp>
      <p:sp>
        <p:nvSpPr>
          <p:cNvPr id="28" name="Text 22"/>
          <p:cNvSpPr/>
          <p:nvPr/>
        </p:nvSpPr>
        <p:spPr>
          <a:xfrm>
            <a:off x="7918704" y="1545336"/>
            <a:ext cx="987552" cy="292608"/>
          </a:xfrm>
          <a:prstGeom prst="rect">
            <a:avLst/>
          </a:prstGeom>
          <a:noFill/>
          <a:ln/>
        </p:spPr>
        <p:txBody>
          <a:bodyPr wrap="square" lIns="0" tIns="0" rIns="0" bIns="0" rtlCol="0" anchor="ctr"/>
          <a:lstStyle/>
          <a:p>
            <a:pPr marL="0" indent="0" algn="ctr">
              <a:buNone/>
            </a:pPr>
            <a:r>
              <a:rPr lang="en-US" sz="900" b="1" dirty="0">
                <a:solidFill>
                  <a:srgbClr val="FBBF24"/>
                </a:solidFill>
                <a:latin typeface="Calibri" pitchFamily="34" charset="0"/>
                <a:ea typeface="Calibri" pitchFamily="34" charset="-122"/>
                <a:cs typeface="Calibri" pitchFamily="34" charset="-120"/>
              </a:rPr>
              <a:t>30–90 days</a:t>
            </a:r>
            <a:endParaRPr lang="en-US" sz="900" dirty="0"/>
          </a:p>
        </p:txBody>
      </p:sp>
      <p:sp>
        <p:nvSpPr>
          <p:cNvPr id="29" name="Text 23"/>
          <p:cNvSpPr/>
          <p:nvPr/>
        </p:nvSpPr>
        <p:spPr>
          <a:xfrm>
            <a:off x="6565392" y="2002536"/>
            <a:ext cx="2304288" cy="310896"/>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Supplier corrective actions</a:t>
            </a:r>
            <a:endParaRPr lang="en-US" sz="1300" dirty="0"/>
          </a:p>
        </p:txBody>
      </p:sp>
      <p:sp>
        <p:nvSpPr>
          <p:cNvPr id="30" name="Text 24"/>
          <p:cNvSpPr/>
          <p:nvPr/>
        </p:nvSpPr>
        <p:spPr>
          <a:xfrm>
            <a:off x="6565392" y="2295144"/>
            <a:ext cx="2304288" cy="475488"/>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Require action plans for recurring late delivery or quality failures.</a:t>
            </a:r>
            <a:endParaRPr lang="en-US" sz="950" dirty="0"/>
          </a:p>
        </p:txBody>
      </p:sp>
      <p:sp>
        <p:nvSpPr>
          <p:cNvPr id="31" name="Shape 25"/>
          <p:cNvSpPr/>
          <p:nvPr/>
        </p:nvSpPr>
        <p:spPr>
          <a:xfrm>
            <a:off x="1179576" y="2990088"/>
            <a:ext cx="2761488" cy="1481328"/>
          </a:xfrm>
          <a:prstGeom prst="rect">
            <a:avLst/>
          </a:prstGeom>
          <a:solidFill>
            <a:srgbClr val="FFFFFF"/>
          </a:solidFill>
          <a:ln w="12700">
            <a:solidFill>
              <a:srgbClr val="E2E8F0"/>
            </a:solidFill>
            <a:prstDash val="solid"/>
          </a:ln>
          <a:effectLst>
            <a:outerShdw blurRad="101600" dist="38100" dir="8100000" algn="bl" rotWithShape="0">
              <a:srgbClr val="0F172A">
                <a:alpha val="18000"/>
              </a:srgbClr>
            </a:outerShdw>
          </a:effectLst>
        </p:spPr>
        <p:txBody>
          <a:bodyPr/>
          <a:lstStyle/>
          <a:p>
            <a:endParaRPr lang="en-US"/>
          </a:p>
        </p:txBody>
      </p:sp>
      <p:sp>
        <p:nvSpPr>
          <p:cNvPr id="32" name="Shape 26"/>
          <p:cNvSpPr/>
          <p:nvPr/>
        </p:nvSpPr>
        <p:spPr>
          <a:xfrm>
            <a:off x="1179576" y="2990088"/>
            <a:ext cx="64008" cy="1481328"/>
          </a:xfrm>
          <a:prstGeom prst="rect">
            <a:avLst/>
          </a:prstGeom>
          <a:solidFill>
            <a:srgbClr val="F59E0B"/>
          </a:solidFill>
          <a:ln/>
        </p:spPr>
        <p:txBody>
          <a:bodyPr/>
          <a:lstStyle/>
          <a:p>
            <a:endParaRPr lang="en-US"/>
          </a:p>
        </p:txBody>
      </p:sp>
      <p:pic>
        <p:nvPicPr>
          <p:cNvPr id="33" name="Image 4" descr="preencoded.png"/>
          <p:cNvPicPr>
            <a:picLocks noChangeAspect="1"/>
          </p:cNvPicPr>
          <p:nvPr/>
        </p:nvPicPr>
        <p:blipFill>
          <a:blip r:embed="rId7"/>
          <a:stretch>
            <a:fillRect/>
          </a:stretch>
        </p:blipFill>
        <p:spPr>
          <a:xfrm>
            <a:off x="1417320" y="3209544"/>
            <a:ext cx="384048" cy="384048"/>
          </a:xfrm>
          <a:prstGeom prst="rect">
            <a:avLst/>
          </a:prstGeom>
        </p:spPr>
      </p:pic>
      <p:sp>
        <p:nvSpPr>
          <p:cNvPr id="34" name="Shape 27"/>
          <p:cNvSpPr/>
          <p:nvPr/>
        </p:nvSpPr>
        <p:spPr>
          <a:xfrm>
            <a:off x="2770632" y="3209544"/>
            <a:ext cx="987552" cy="292608"/>
          </a:xfrm>
          <a:prstGeom prst="rect">
            <a:avLst/>
          </a:prstGeom>
          <a:solidFill>
            <a:srgbClr val="1E293B"/>
          </a:solidFill>
          <a:ln/>
        </p:spPr>
        <p:txBody>
          <a:bodyPr/>
          <a:lstStyle/>
          <a:p>
            <a:endParaRPr lang="en-US"/>
          </a:p>
        </p:txBody>
      </p:sp>
      <p:sp>
        <p:nvSpPr>
          <p:cNvPr id="35" name="Text 28"/>
          <p:cNvSpPr/>
          <p:nvPr/>
        </p:nvSpPr>
        <p:spPr>
          <a:xfrm>
            <a:off x="2770632" y="3209544"/>
            <a:ext cx="987552" cy="292608"/>
          </a:xfrm>
          <a:prstGeom prst="rect">
            <a:avLst/>
          </a:prstGeom>
          <a:noFill/>
          <a:ln/>
        </p:spPr>
        <p:txBody>
          <a:bodyPr wrap="square" lIns="0" tIns="0" rIns="0" bIns="0" rtlCol="0" anchor="ctr"/>
          <a:lstStyle/>
          <a:p>
            <a:pPr marL="0" indent="0" algn="ctr">
              <a:buNone/>
            </a:pPr>
            <a:r>
              <a:rPr lang="en-US" sz="900" b="1" dirty="0">
                <a:solidFill>
                  <a:srgbClr val="FBBF24"/>
                </a:solidFill>
                <a:latin typeface="Calibri" pitchFamily="34" charset="0"/>
                <a:ea typeface="Calibri" pitchFamily="34" charset="-122"/>
                <a:cs typeface="Calibri" pitchFamily="34" charset="-120"/>
              </a:rPr>
              <a:t>60–120 days</a:t>
            </a:r>
            <a:endParaRPr lang="en-US" sz="900" dirty="0"/>
          </a:p>
        </p:txBody>
      </p:sp>
      <p:sp>
        <p:nvSpPr>
          <p:cNvPr id="36" name="Text 29"/>
          <p:cNvSpPr/>
          <p:nvPr/>
        </p:nvSpPr>
        <p:spPr>
          <a:xfrm>
            <a:off x="1417320" y="3666744"/>
            <a:ext cx="2304288" cy="310896"/>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Qualify alternate sources</a:t>
            </a:r>
            <a:endParaRPr lang="en-US" sz="1300" dirty="0"/>
          </a:p>
        </p:txBody>
      </p:sp>
      <p:sp>
        <p:nvSpPr>
          <p:cNvPr id="37" name="Text 30"/>
          <p:cNvSpPr/>
          <p:nvPr/>
        </p:nvSpPr>
        <p:spPr>
          <a:xfrm>
            <a:off x="1417320" y="3959352"/>
            <a:ext cx="2304288" cy="475488"/>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Develop secondary suppliers for critical or constrained components.</a:t>
            </a:r>
            <a:endParaRPr lang="en-US" sz="950" dirty="0"/>
          </a:p>
        </p:txBody>
      </p:sp>
      <p:sp>
        <p:nvSpPr>
          <p:cNvPr id="38" name="Shape 31"/>
          <p:cNvSpPr/>
          <p:nvPr/>
        </p:nvSpPr>
        <p:spPr>
          <a:xfrm>
            <a:off x="4114800" y="2990088"/>
            <a:ext cx="2761488" cy="1481328"/>
          </a:xfrm>
          <a:prstGeom prst="rect">
            <a:avLst/>
          </a:prstGeom>
          <a:solidFill>
            <a:srgbClr val="FFFFFF"/>
          </a:solidFill>
          <a:ln w="12700">
            <a:solidFill>
              <a:srgbClr val="E2E8F0"/>
            </a:solidFill>
            <a:prstDash val="solid"/>
          </a:ln>
          <a:effectLst>
            <a:outerShdw blurRad="101600" dist="38100" dir="8100000" algn="bl" rotWithShape="0">
              <a:srgbClr val="0F172A">
                <a:alpha val="18000"/>
              </a:srgbClr>
            </a:outerShdw>
          </a:effectLst>
        </p:spPr>
        <p:txBody>
          <a:bodyPr/>
          <a:lstStyle/>
          <a:p>
            <a:endParaRPr lang="en-US"/>
          </a:p>
        </p:txBody>
      </p:sp>
      <p:sp>
        <p:nvSpPr>
          <p:cNvPr id="39" name="Shape 32"/>
          <p:cNvSpPr/>
          <p:nvPr/>
        </p:nvSpPr>
        <p:spPr>
          <a:xfrm>
            <a:off x="4114800" y="2990088"/>
            <a:ext cx="64008" cy="1481328"/>
          </a:xfrm>
          <a:prstGeom prst="rect">
            <a:avLst/>
          </a:prstGeom>
          <a:solidFill>
            <a:srgbClr val="F59E0B"/>
          </a:solidFill>
          <a:ln/>
        </p:spPr>
        <p:txBody>
          <a:bodyPr/>
          <a:lstStyle/>
          <a:p>
            <a:endParaRPr lang="en-US"/>
          </a:p>
        </p:txBody>
      </p:sp>
      <p:pic>
        <p:nvPicPr>
          <p:cNvPr id="40" name="Image 5" descr="preencoded.png"/>
          <p:cNvPicPr>
            <a:picLocks noChangeAspect="1"/>
          </p:cNvPicPr>
          <p:nvPr/>
        </p:nvPicPr>
        <p:blipFill>
          <a:blip r:embed="rId8"/>
          <a:stretch>
            <a:fillRect/>
          </a:stretch>
        </p:blipFill>
        <p:spPr>
          <a:xfrm>
            <a:off x="4352544" y="3209544"/>
            <a:ext cx="384048" cy="384048"/>
          </a:xfrm>
          <a:prstGeom prst="rect">
            <a:avLst/>
          </a:prstGeom>
        </p:spPr>
      </p:pic>
      <p:sp>
        <p:nvSpPr>
          <p:cNvPr id="41" name="Shape 33"/>
          <p:cNvSpPr/>
          <p:nvPr/>
        </p:nvSpPr>
        <p:spPr>
          <a:xfrm>
            <a:off x="5705856" y="3209544"/>
            <a:ext cx="987552" cy="292608"/>
          </a:xfrm>
          <a:prstGeom prst="rect">
            <a:avLst/>
          </a:prstGeom>
          <a:solidFill>
            <a:srgbClr val="1E293B"/>
          </a:solidFill>
          <a:ln/>
        </p:spPr>
        <p:txBody>
          <a:bodyPr/>
          <a:lstStyle/>
          <a:p>
            <a:endParaRPr lang="en-US"/>
          </a:p>
        </p:txBody>
      </p:sp>
      <p:sp>
        <p:nvSpPr>
          <p:cNvPr id="42" name="Text 34"/>
          <p:cNvSpPr/>
          <p:nvPr/>
        </p:nvSpPr>
        <p:spPr>
          <a:xfrm>
            <a:off x="5705856" y="3209544"/>
            <a:ext cx="987552" cy="292608"/>
          </a:xfrm>
          <a:prstGeom prst="rect">
            <a:avLst/>
          </a:prstGeom>
          <a:noFill/>
          <a:ln/>
        </p:spPr>
        <p:txBody>
          <a:bodyPr wrap="square" lIns="0" tIns="0" rIns="0" bIns="0" rtlCol="0" anchor="ctr"/>
          <a:lstStyle/>
          <a:p>
            <a:pPr marL="0" indent="0" algn="ctr">
              <a:buNone/>
            </a:pPr>
            <a:r>
              <a:rPr lang="en-US" sz="900" b="1" dirty="0">
                <a:solidFill>
                  <a:srgbClr val="FBBF24"/>
                </a:solidFill>
                <a:latin typeface="Calibri" pitchFamily="34" charset="0"/>
                <a:ea typeface="Calibri" pitchFamily="34" charset="-122"/>
                <a:cs typeface="Calibri" pitchFamily="34" charset="-120"/>
              </a:rPr>
              <a:t>Monthly</a:t>
            </a:r>
            <a:endParaRPr lang="en-US" sz="900" dirty="0"/>
          </a:p>
        </p:txBody>
      </p:sp>
      <p:sp>
        <p:nvSpPr>
          <p:cNvPr id="43" name="Text 35"/>
          <p:cNvSpPr/>
          <p:nvPr/>
        </p:nvSpPr>
        <p:spPr>
          <a:xfrm>
            <a:off x="4352544" y="3666744"/>
            <a:ext cx="2304288" cy="310896"/>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Improve forecast discipline</a:t>
            </a:r>
            <a:endParaRPr lang="en-US" sz="1300" dirty="0"/>
          </a:p>
        </p:txBody>
      </p:sp>
      <p:sp>
        <p:nvSpPr>
          <p:cNvPr id="44" name="Text 36"/>
          <p:cNvSpPr/>
          <p:nvPr/>
        </p:nvSpPr>
        <p:spPr>
          <a:xfrm>
            <a:off x="4352544" y="3959352"/>
            <a:ext cx="2304288" cy="475488"/>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Align forecast, usage, and replenishment through recurring supply reviews.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93B"/>
          </a:solidFill>
          <a:ln/>
        </p:spPr>
        <p:txBody>
          <a:bodyPr/>
          <a:lstStyle/>
          <a:p>
            <a:endParaRPr lang="en-US"/>
          </a:p>
        </p:txBody>
      </p:sp>
      <p:sp>
        <p:nvSpPr>
          <p:cNvPr id="3" name="Shape 1"/>
          <p:cNvSpPr/>
          <p:nvPr/>
        </p:nvSpPr>
        <p:spPr>
          <a:xfrm>
            <a:off x="0" y="1051560"/>
            <a:ext cx="9144000" cy="45720"/>
          </a:xfrm>
          <a:prstGeom prst="rect">
            <a:avLst/>
          </a:prstGeom>
          <a:solidFill>
            <a:srgbClr val="F59E0B"/>
          </a:solidFill>
          <a:ln/>
        </p:spPr>
        <p:txBody>
          <a:bodyPr/>
          <a:lstStyle/>
          <a:p>
            <a:endParaRPr lang="en-US"/>
          </a:p>
        </p:txBody>
      </p:sp>
      <p:sp>
        <p:nvSpPr>
          <p:cNvPr id="4" name="Shape 2"/>
          <p:cNvSpPr/>
          <p:nvPr/>
        </p:nvSpPr>
        <p:spPr>
          <a:xfrm>
            <a:off x="457200" y="256032"/>
            <a:ext cx="548640" cy="548640"/>
          </a:xfrm>
          <a:prstGeom prst="rect">
            <a:avLst/>
          </a:prstGeom>
          <a:solidFill>
            <a:srgbClr val="334155"/>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566928" y="365760"/>
            <a:ext cx="329184" cy="329184"/>
          </a:xfrm>
          <a:prstGeom prst="rect">
            <a:avLst/>
          </a:prstGeom>
        </p:spPr>
      </p:pic>
      <p:sp>
        <p:nvSpPr>
          <p:cNvPr id="6" name="Text 3"/>
          <p:cNvSpPr/>
          <p:nvPr/>
        </p:nvSpPr>
        <p:spPr>
          <a:xfrm>
            <a:off x="1188720" y="256032"/>
            <a:ext cx="7498080" cy="256032"/>
          </a:xfrm>
          <a:prstGeom prst="rect">
            <a:avLst/>
          </a:prstGeom>
          <a:noFill/>
          <a:ln/>
        </p:spPr>
        <p:txBody>
          <a:bodyPr wrap="square" lIns="0" tIns="0" rIns="0" bIns="0" rtlCol="0" anchor="ctr"/>
          <a:lstStyle/>
          <a:p>
            <a:pPr marL="0" indent="0">
              <a:buNone/>
            </a:pPr>
            <a:r>
              <a:rPr lang="en-US" sz="1100" b="1" kern="0" spc="200" dirty="0">
                <a:solidFill>
                  <a:srgbClr val="FBBF24"/>
                </a:solidFill>
                <a:latin typeface="Calibri" pitchFamily="34" charset="0"/>
                <a:ea typeface="Calibri" pitchFamily="34" charset="-122"/>
                <a:cs typeface="Calibri" pitchFamily="34" charset="-120"/>
              </a:rPr>
              <a:t>ACTION PLAN TIMELINE</a:t>
            </a:r>
            <a:endParaRPr lang="en-US" sz="1100" dirty="0"/>
          </a:p>
        </p:txBody>
      </p:sp>
      <p:sp>
        <p:nvSpPr>
          <p:cNvPr id="7" name="Text 4"/>
          <p:cNvSpPr/>
          <p:nvPr/>
        </p:nvSpPr>
        <p:spPr>
          <a:xfrm>
            <a:off x="1188720" y="475488"/>
            <a:ext cx="7498080" cy="45720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Component-Focused Corrective Roadmap</a:t>
            </a:r>
            <a:endParaRPr lang="en-US" sz="2400" dirty="0"/>
          </a:p>
        </p:txBody>
      </p:sp>
      <p:sp>
        <p:nvSpPr>
          <p:cNvPr id="8" name="Text 5"/>
          <p:cNvSpPr/>
          <p:nvPr/>
        </p:nvSpPr>
        <p:spPr>
          <a:xfrm>
            <a:off x="457200" y="4864608"/>
            <a:ext cx="548640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Supply Chain Issue Compliance Report</a:t>
            </a:r>
            <a:endParaRPr lang="en-US" sz="800" dirty="0"/>
          </a:p>
        </p:txBody>
      </p:sp>
      <p:sp>
        <p:nvSpPr>
          <p:cNvPr id="9" name="Text 6"/>
          <p:cNvSpPr/>
          <p:nvPr/>
        </p:nvSpPr>
        <p:spPr>
          <a:xfrm>
            <a:off x="7315200" y="4864608"/>
            <a:ext cx="1371600" cy="228600"/>
          </a:xfrm>
          <a:prstGeom prst="rect">
            <a:avLst/>
          </a:prstGeom>
          <a:noFill/>
          <a:ln/>
        </p:spPr>
        <p:txBody>
          <a:bodyPr wrap="square" lIns="0" tIns="0" rIns="0" bIns="0"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Confidential</a:t>
            </a:r>
            <a:endParaRPr lang="en-US" sz="800" dirty="0"/>
          </a:p>
        </p:txBody>
      </p:sp>
      <p:sp>
        <p:nvSpPr>
          <p:cNvPr id="10" name="Shape 7"/>
          <p:cNvSpPr/>
          <p:nvPr/>
        </p:nvSpPr>
        <p:spPr>
          <a:xfrm>
            <a:off x="457200" y="1280160"/>
            <a:ext cx="1600200" cy="1042416"/>
          </a:xfrm>
          <a:prstGeom prst="rect">
            <a:avLst/>
          </a:prstGeom>
          <a:solidFill>
            <a:srgbClr val="1E293B"/>
          </a:solidFill>
          <a:ln/>
        </p:spPr>
        <p:txBody>
          <a:bodyPr/>
          <a:lstStyle/>
          <a:p>
            <a:endParaRPr lang="en-US"/>
          </a:p>
        </p:txBody>
      </p:sp>
      <p:sp>
        <p:nvSpPr>
          <p:cNvPr id="11" name="Shape 8"/>
          <p:cNvSpPr/>
          <p:nvPr/>
        </p:nvSpPr>
        <p:spPr>
          <a:xfrm>
            <a:off x="457200" y="1280160"/>
            <a:ext cx="1600200" cy="45720"/>
          </a:xfrm>
          <a:prstGeom prst="rect">
            <a:avLst/>
          </a:prstGeom>
          <a:solidFill>
            <a:srgbClr val="F59E0B"/>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1037844" y="1481328"/>
            <a:ext cx="438912" cy="438912"/>
          </a:xfrm>
          <a:prstGeom prst="rect">
            <a:avLst/>
          </a:prstGeom>
        </p:spPr>
      </p:pic>
      <p:sp>
        <p:nvSpPr>
          <p:cNvPr id="13" name="Text 9"/>
          <p:cNvSpPr/>
          <p:nvPr/>
        </p:nvSpPr>
        <p:spPr>
          <a:xfrm>
            <a:off x="457200" y="1938528"/>
            <a:ext cx="160020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CARB123</a:t>
            </a:r>
            <a:endParaRPr lang="en-US" sz="1400" dirty="0"/>
          </a:p>
        </p:txBody>
      </p:sp>
      <p:sp>
        <p:nvSpPr>
          <p:cNvPr id="14" name="Shape 10"/>
          <p:cNvSpPr/>
          <p:nvPr/>
        </p:nvSpPr>
        <p:spPr>
          <a:xfrm>
            <a:off x="2221992" y="1280160"/>
            <a:ext cx="3150108" cy="1042416"/>
          </a:xfrm>
          <a:prstGeom prst="rect">
            <a:avLst/>
          </a:prstGeom>
          <a:solidFill>
            <a:srgbClr val="FFFFFF"/>
          </a:solidFill>
          <a:ln w="12700">
            <a:solidFill>
              <a:srgbClr val="E2E8F0"/>
            </a:solidFill>
            <a:prstDash val="solid"/>
          </a:ln>
        </p:spPr>
        <p:txBody>
          <a:bodyPr/>
          <a:lstStyle/>
          <a:p>
            <a:endParaRPr lang="en-US"/>
          </a:p>
        </p:txBody>
      </p:sp>
      <p:sp>
        <p:nvSpPr>
          <p:cNvPr id="15" name="Shape 11"/>
          <p:cNvSpPr/>
          <p:nvPr/>
        </p:nvSpPr>
        <p:spPr>
          <a:xfrm>
            <a:off x="2221992" y="1280160"/>
            <a:ext cx="3150108" cy="310896"/>
          </a:xfrm>
          <a:prstGeom prst="rect">
            <a:avLst/>
          </a:prstGeom>
          <a:solidFill>
            <a:srgbClr val="F59E0B"/>
          </a:solidFill>
          <a:ln/>
        </p:spPr>
        <p:txBody>
          <a:bodyPr/>
          <a:lstStyle/>
          <a:p>
            <a:endParaRPr lang="en-US"/>
          </a:p>
        </p:txBody>
      </p:sp>
      <p:sp>
        <p:nvSpPr>
          <p:cNvPr id="16" name="Text 12"/>
          <p:cNvSpPr/>
          <p:nvPr/>
        </p:nvSpPr>
        <p:spPr>
          <a:xfrm>
            <a:off x="2350008" y="1280160"/>
            <a:ext cx="2894076" cy="310896"/>
          </a:xfrm>
          <a:prstGeom prst="rect">
            <a:avLst/>
          </a:prstGeom>
          <a:noFill/>
          <a:ln/>
        </p:spPr>
        <p:txBody>
          <a:bodyPr wrap="square" lIns="0" tIns="0" rIns="0" bIns="0" rtlCol="0" anchor="ct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0–45 days</a:t>
            </a:r>
            <a:endParaRPr lang="en-US" sz="1100" dirty="0"/>
          </a:p>
        </p:txBody>
      </p:sp>
      <p:sp>
        <p:nvSpPr>
          <p:cNvPr id="17" name="Text 13"/>
          <p:cNvSpPr/>
          <p:nvPr/>
        </p:nvSpPr>
        <p:spPr>
          <a:xfrm>
            <a:off x="2350008" y="1664208"/>
            <a:ext cx="2894076" cy="585216"/>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Review RawMatPlus contract; set escalation triggers</a:t>
            </a:r>
            <a:endParaRPr lang="en-US" sz="1000" dirty="0"/>
          </a:p>
        </p:txBody>
      </p:sp>
      <p:sp>
        <p:nvSpPr>
          <p:cNvPr id="18" name="Shape 14"/>
          <p:cNvSpPr/>
          <p:nvPr/>
        </p:nvSpPr>
        <p:spPr>
          <a:xfrm>
            <a:off x="5536692" y="1280160"/>
            <a:ext cx="3150108" cy="1042416"/>
          </a:xfrm>
          <a:prstGeom prst="rect">
            <a:avLst/>
          </a:prstGeom>
          <a:solidFill>
            <a:srgbClr val="FFFFFF"/>
          </a:solidFill>
          <a:ln w="12700">
            <a:solidFill>
              <a:srgbClr val="E2E8F0"/>
            </a:solidFill>
            <a:prstDash val="solid"/>
          </a:ln>
        </p:spPr>
        <p:txBody>
          <a:bodyPr/>
          <a:lstStyle/>
          <a:p>
            <a:endParaRPr lang="en-US"/>
          </a:p>
        </p:txBody>
      </p:sp>
      <p:sp>
        <p:nvSpPr>
          <p:cNvPr id="19" name="Shape 15"/>
          <p:cNvSpPr/>
          <p:nvPr/>
        </p:nvSpPr>
        <p:spPr>
          <a:xfrm>
            <a:off x="5536692" y="1280160"/>
            <a:ext cx="3150108" cy="310896"/>
          </a:xfrm>
          <a:prstGeom prst="rect">
            <a:avLst/>
          </a:prstGeom>
          <a:solidFill>
            <a:srgbClr val="F59E0B"/>
          </a:solidFill>
          <a:ln/>
        </p:spPr>
        <p:txBody>
          <a:bodyPr/>
          <a:lstStyle/>
          <a:p>
            <a:endParaRPr lang="en-US"/>
          </a:p>
        </p:txBody>
      </p:sp>
      <p:sp>
        <p:nvSpPr>
          <p:cNvPr id="20" name="Text 16"/>
          <p:cNvSpPr/>
          <p:nvPr/>
        </p:nvSpPr>
        <p:spPr>
          <a:xfrm>
            <a:off x="5664708" y="1280160"/>
            <a:ext cx="2894076" cy="310896"/>
          </a:xfrm>
          <a:prstGeom prst="rect">
            <a:avLst/>
          </a:prstGeom>
          <a:noFill/>
          <a:ln/>
        </p:spPr>
        <p:txBody>
          <a:bodyPr wrap="square" lIns="0" tIns="0" rIns="0" bIns="0" rtlCol="0" anchor="ct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45–90 days</a:t>
            </a:r>
            <a:endParaRPr lang="en-US" sz="1100" dirty="0"/>
          </a:p>
        </p:txBody>
      </p:sp>
      <p:sp>
        <p:nvSpPr>
          <p:cNvPr id="21" name="Text 17"/>
          <p:cNvSpPr/>
          <p:nvPr/>
        </p:nvSpPr>
        <p:spPr>
          <a:xfrm>
            <a:off x="5664708" y="1664208"/>
            <a:ext cx="2894076" cy="585216"/>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Validate corrective actions; hold buffer inventory</a:t>
            </a:r>
            <a:endParaRPr lang="en-US" sz="1000" dirty="0"/>
          </a:p>
        </p:txBody>
      </p:sp>
      <p:sp>
        <p:nvSpPr>
          <p:cNvPr id="22" name="Shape 18"/>
          <p:cNvSpPr/>
          <p:nvPr/>
        </p:nvSpPr>
        <p:spPr>
          <a:xfrm>
            <a:off x="457200" y="2404872"/>
            <a:ext cx="1600200" cy="1042416"/>
          </a:xfrm>
          <a:prstGeom prst="rect">
            <a:avLst/>
          </a:prstGeom>
          <a:solidFill>
            <a:srgbClr val="1E293B"/>
          </a:solidFill>
          <a:ln/>
        </p:spPr>
        <p:txBody>
          <a:bodyPr/>
          <a:lstStyle/>
          <a:p>
            <a:endParaRPr lang="en-US"/>
          </a:p>
        </p:txBody>
      </p:sp>
      <p:sp>
        <p:nvSpPr>
          <p:cNvPr id="23" name="Shape 19"/>
          <p:cNvSpPr/>
          <p:nvPr/>
        </p:nvSpPr>
        <p:spPr>
          <a:xfrm>
            <a:off x="457200" y="2404872"/>
            <a:ext cx="1600200" cy="45720"/>
          </a:xfrm>
          <a:prstGeom prst="rect">
            <a:avLst/>
          </a:prstGeom>
          <a:solidFill>
            <a:srgbClr val="F59E0B"/>
          </a:solidFill>
          <a:ln/>
        </p:spPr>
        <p:txBody>
          <a:bodyPr/>
          <a:lstStyle/>
          <a:p>
            <a:endParaRPr lang="en-US"/>
          </a:p>
        </p:txBody>
      </p:sp>
      <p:pic>
        <p:nvPicPr>
          <p:cNvPr id="24" name="Image 2" descr="preencoded.png"/>
          <p:cNvPicPr>
            <a:picLocks noChangeAspect="1"/>
          </p:cNvPicPr>
          <p:nvPr/>
        </p:nvPicPr>
        <p:blipFill>
          <a:blip r:embed="rId5"/>
          <a:stretch>
            <a:fillRect/>
          </a:stretch>
        </p:blipFill>
        <p:spPr>
          <a:xfrm>
            <a:off x="1037844" y="2606040"/>
            <a:ext cx="438912" cy="438912"/>
          </a:xfrm>
          <a:prstGeom prst="rect">
            <a:avLst/>
          </a:prstGeom>
        </p:spPr>
      </p:pic>
      <p:sp>
        <p:nvSpPr>
          <p:cNvPr id="25" name="Text 20"/>
          <p:cNvSpPr/>
          <p:nvPr/>
        </p:nvSpPr>
        <p:spPr>
          <a:xfrm>
            <a:off x="457200" y="3063240"/>
            <a:ext cx="160020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BIND567</a:t>
            </a:r>
            <a:endParaRPr lang="en-US" sz="1400" dirty="0"/>
          </a:p>
        </p:txBody>
      </p:sp>
      <p:sp>
        <p:nvSpPr>
          <p:cNvPr id="26" name="Shape 21"/>
          <p:cNvSpPr/>
          <p:nvPr/>
        </p:nvSpPr>
        <p:spPr>
          <a:xfrm>
            <a:off x="2221992" y="2404872"/>
            <a:ext cx="3150108" cy="1042416"/>
          </a:xfrm>
          <a:prstGeom prst="rect">
            <a:avLst/>
          </a:prstGeom>
          <a:solidFill>
            <a:srgbClr val="FFFFFF"/>
          </a:solidFill>
          <a:ln w="12700">
            <a:solidFill>
              <a:srgbClr val="E2E8F0"/>
            </a:solidFill>
            <a:prstDash val="solid"/>
          </a:ln>
        </p:spPr>
        <p:txBody>
          <a:bodyPr/>
          <a:lstStyle/>
          <a:p>
            <a:endParaRPr lang="en-US"/>
          </a:p>
        </p:txBody>
      </p:sp>
      <p:sp>
        <p:nvSpPr>
          <p:cNvPr id="27" name="Shape 22"/>
          <p:cNvSpPr/>
          <p:nvPr/>
        </p:nvSpPr>
        <p:spPr>
          <a:xfrm>
            <a:off x="2221992" y="2404872"/>
            <a:ext cx="3150108" cy="310896"/>
          </a:xfrm>
          <a:prstGeom prst="rect">
            <a:avLst/>
          </a:prstGeom>
          <a:solidFill>
            <a:srgbClr val="F59E0B"/>
          </a:solidFill>
          <a:ln/>
        </p:spPr>
        <p:txBody>
          <a:bodyPr/>
          <a:lstStyle/>
          <a:p>
            <a:endParaRPr lang="en-US"/>
          </a:p>
        </p:txBody>
      </p:sp>
      <p:sp>
        <p:nvSpPr>
          <p:cNvPr id="28" name="Text 23"/>
          <p:cNvSpPr/>
          <p:nvPr/>
        </p:nvSpPr>
        <p:spPr>
          <a:xfrm>
            <a:off x="2350008" y="2404872"/>
            <a:ext cx="2894076" cy="310896"/>
          </a:xfrm>
          <a:prstGeom prst="rect">
            <a:avLst/>
          </a:prstGeom>
          <a:noFill/>
          <a:ln/>
        </p:spPr>
        <p:txBody>
          <a:bodyPr wrap="square" lIns="0" tIns="0" rIns="0" bIns="0" rtlCol="0" anchor="ct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0–30 days</a:t>
            </a:r>
            <a:endParaRPr lang="en-US" sz="1100" dirty="0"/>
          </a:p>
        </p:txBody>
      </p:sp>
      <p:sp>
        <p:nvSpPr>
          <p:cNvPr id="29" name="Text 24"/>
          <p:cNvSpPr/>
          <p:nvPr/>
        </p:nvSpPr>
        <p:spPr>
          <a:xfrm>
            <a:off x="2350008" y="2788920"/>
            <a:ext cx="2894076" cy="585216"/>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Logistics recovery plan &amp; lane review with EcoSupply</a:t>
            </a:r>
            <a:endParaRPr lang="en-US" sz="1000" dirty="0"/>
          </a:p>
        </p:txBody>
      </p:sp>
      <p:sp>
        <p:nvSpPr>
          <p:cNvPr id="30" name="Shape 25"/>
          <p:cNvSpPr/>
          <p:nvPr/>
        </p:nvSpPr>
        <p:spPr>
          <a:xfrm>
            <a:off x="5536692" y="2404872"/>
            <a:ext cx="3150108" cy="1042416"/>
          </a:xfrm>
          <a:prstGeom prst="rect">
            <a:avLst/>
          </a:prstGeom>
          <a:solidFill>
            <a:srgbClr val="FFFFFF"/>
          </a:solidFill>
          <a:ln w="12700">
            <a:solidFill>
              <a:srgbClr val="E2E8F0"/>
            </a:solidFill>
            <a:prstDash val="solid"/>
          </a:ln>
        </p:spPr>
        <p:txBody>
          <a:bodyPr/>
          <a:lstStyle/>
          <a:p>
            <a:endParaRPr lang="en-US"/>
          </a:p>
        </p:txBody>
      </p:sp>
      <p:sp>
        <p:nvSpPr>
          <p:cNvPr id="31" name="Shape 26"/>
          <p:cNvSpPr/>
          <p:nvPr/>
        </p:nvSpPr>
        <p:spPr>
          <a:xfrm>
            <a:off x="5536692" y="2404872"/>
            <a:ext cx="3150108" cy="310896"/>
          </a:xfrm>
          <a:prstGeom prst="rect">
            <a:avLst/>
          </a:prstGeom>
          <a:solidFill>
            <a:srgbClr val="F59E0B"/>
          </a:solidFill>
          <a:ln/>
        </p:spPr>
        <p:txBody>
          <a:bodyPr/>
          <a:lstStyle/>
          <a:p>
            <a:endParaRPr lang="en-US"/>
          </a:p>
        </p:txBody>
      </p:sp>
      <p:sp>
        <p:nvSpPr>
          <p:cNvPr id="32" name="Text 27"/>
          <p:cNvSpPr/>
          <p:nvPr/>
        </p:nvSpPr>
        <p:spPr>
          <a:xfrm>
            <a:off x="5664708" y="2404872"/>
            <a:ext cx="2894076" cy="310896"/>
          </a:xfrm>
          <a:prstGeom prst="rect">
            <a:avLst/>
          </a:prstGeom>
          <a:noFill/>
          <a:ln/>
        </p:spPr>
        <p:txBody>
          <a:bodyPr wrap="square" lIns="0" tIns="0" rIns="0" bIns="0" rtlCol="0" anchor="ct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30–60 days</a:t>
            </a:r>
            <a:endParaRPr lang="en-US" sz="1100" dirty="0"/>
          </a:p>
        </p:txBody>
      </p:sp>
      <p:sp>
        <p:nvSpPr>
          <p:cNvPr id="33" name="Text 28"/>
          <p:cNvSpPr/>
          <p:nvPr/>
        </p:nvSpPr>
        <p:spPr>
          <a:xfrm>
            <a:off x="5664708" y="2788920"/>
            <a:ext cx="2894076" cy="585216"/>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Adjust contingency stock; weekly variance monitoring</a:t>
            </a:r>
            <a:endParaRPr lang="en-US" sz="1000" dirty="0"/>
          </a:p>
        </p:txBody>
      </p:sp>
      <p:sp>
        <p:nvSpPr>
          <p:cNvPr id="34" name="Shape 29"/>
          <p:cNvSpPr/>
          <p:nvPr/>
        </p:nvSpPr>
        <p:spPr>
          <a:xfrm>
            <a:off x="457200" y="3529584"/>
            <a:ext cx="1600200" cy="1042416"/>
          </a:xfrm>
          <a:prstGeom prst="rect">
            <a:avLst/>
          </a:prstGeom>
          <a:solidFill>
            <a:srgbClr val="1E293B"/>
          </a:solidFill>
          <a:ln/>
        </p:spPr>
        <p:txBody>
          <a:bodyPr/>
          <a:lstStyle/>
          <a:p>
            <a:endParaRPr lang="en-US"/>
          </a:p>
        </p:txBody>
      </p:sp>
      <p:sp>
        <p:nvSpPr>
          <p:cNvPr id="35" name="Shape 30"/>
          <p:cNvSpPr/>
          <p:nvPr/>
        </p:nvSpPr>
        <p:spPr>
          <a:xfrm>
            <a:off x="457200" y="3529584"/>
            <a:ext cx="1600200" cy="45720"/>
          </a:xfrm>
          <a:prstGeom prst="rect">
            <a:avLst/>
          </a:prstGeom>
          <a:solidFill>
            <a:srgbClr val="F59E0B"/>
          </a:solidFill>
          <a:ln/>
        </p:spPr>
        <p:txBody>
          <a:bodyPr/>
          <a:lstStyle/>
          <a:p>
            <a:endParaRPr lang="en-US"/>
          </a:p>
        </p:txBody>
      </p:sp>
      <p:pic>
        <p:nvPicPr>
          <p:cNvPr id="36" name="Image 3" descr="preencoded.png"/>
          <p:cNvPicPr>
            <a:picLocks noChangeAspect="1"/>
          </p:cNvPicPr>
          <p:nvPr/>
        </p:nvPicPr>
        <p:blipFill>
          <a:blip r:embed="rId6"/>
          <a:stretch>
            <a:fillRect/>
          </a:stretch>
        </p:blipFill>
        <p:spPr>
          <a:xfrm>
            <a:off x="1037844" y="3730752"/>
            <a:ext cx="438912" cy="438912"/>
          </a:xfrm>
          <a:prstGeom prst="rect">
            <a:avLst/>
          </a:prstGeom>
        </p:spPr>
      </p:pic>
      <p:sp>
        <p:nvSpPr>
          <p:cNvPr id="37" name="Text 31"/>
          <p:cNvSpPr/>
          <p:nvPr/>
        </p:nvSpPr>
        <p:spPr>
          <a:xfrm>
            <a:off x="457200" y="4187952"/>
            <a:ext cx="160020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COAT890</a:t>
            </a:r>
            <a:endParaRPr lang="en-US" sz="1400" dirty="0"/>
          </a:p>
        </p:txBody>
      </p:sp>
      <p:sp>
        <p:nvSpPr>
          <p:cNvPr id="38" name="Shape 32"/>
          <p:cNvSpPr/>
          <p:nvPr/>
        </p:nvSpPr>
        <p:spPr>
          <a:xfrm>
            <a:off x="2221992" y="3529584"/>
            <a:ext cx="3150108" cy="1042416"/>
          </a:xfrm>
          <a:prstGeom prst="rect">
            <a:avLst/>
          </a:prstGeom>
          <a:solidFill>
            <a:srgbClr val="FFFFFF"/>
          </a:solidFill>
          <a:ln w="12700">
            <a:solidFill>
              <a:srgbClr val="E2E8F0"/>
            </a:solidFill>
            <a:prstDash val="solid"/>
          </a:ln>
        </p:spPr>
        <p:txBody>
          <a:bodyPr/>
          <a:lstStyle/>
          <a:p>
            <a:endParaRPr lang="en-US"/>
          </a:p>
        </p:txBody>
      </p:sp>
      <p:sp>
        <p:nvSpPr>
          <p:cNvPr id="39" name="Shape 33"/>
          <p:cNvSpPr/>
          <p:nvPr/>
        </p:nvSpPr>
        <p:spPr>
          <a:xfrm>
            <a:off x="2221992" y="3529584"/>
            <a:ext cx="3150108" cy="310896"/>
          </a:xfrm>
          <a:prstGeom prst="rect">
            <a:avLst/>
          </a:prstGeom>
          <a:solidFill>
            <a:srgbClr val="F59E0B"/>
          </a:solidFill>
          <a:ln/>
        </p:spPr>
        <p:txBody>
          <a:bodyPr/>
          <a:lstStyle/>
          <a:p>
            <a:endParaRPr lang="en-US"/>
          </a:p>
        </p:txBody>
      </p:sp>
      <p:sp>
        <p:nvSpPr>
          <p:cNvPr id="40" name="Text 34"/>
          <p:cNvSpPr/>
          <p:nvPr/>
        </p:nvSpPr>
        <p:spPr>
          <a:xfrm>
            <a:off x="2350008" y="3529584"/>
            <a:ext cx="2894076" cy="310896"/>
          </a:xfrm>
          <a:prstGeom prst="rect">
            <a:avLst/>
          </a:prstGeom>
          <a:noFill/>
          <a:ln/>
        </p:spPr>
        <p:txBody>
          <a:bodyPr wrap="square" lIns="0" tIns="0" rIns="0" bIns="0" rtlCol="0" anchor="ct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0–60 days</a:t>
            </a:r>
            <a:endParaRPr lang="en-US" sz="1100" dirty="0"/>
          </a:p>
        </p:txBody>
      </p:sp>
      <p:sp>
        <p:nvSpPr>
          <p:cNvPr id="41" name="Text 35"/>
          <p:cNvSpPr/>
          <p:nvPr/>
        </p:nvSpPr>
        <p:spPr>
          <a:xfrm>
            <a:off x="2350008" y="3913632"/>
            <a:ext cx="2894076" cy="585216"/>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Supplier performance review &amp; enhanced inspection</a:t>
            </a:r>
            <a:endParaRPr lang="en-US" sz="1000" dirty="0"/>
          </a:p>
        </p:txBody>
      </p:sp>
      <p:sp>
        <p:nvSpPr>
          <p:cNvPr id="42" name="Shape 36"/>
          <p:cNvSpPr/>
          <p:nvPr/>
        </p:nvSpPr>
        <p:spPr>
          <a:xfrm>
            <a:off x="5536692" y="3529584"/>
            <a:ext cx="3150108" cy="1042416"/>
          </a:xfrm>
          <a:prstGeom prst="rect">
            <a:avLst/>
          </a:prstGeom>
          <a:solidFill>
            <a:srgbClr val="FFFFFF"/>
          </a:solidFill>
          <a:ln w="12700">
            <a:solidFill>
              <a:srgbClr val="E2E8F0"/>
            </a:solidFill>
            <a:prstDash val="solid"/>
          </a:ln>
        </p:spPr>
        <p:txBody>
          <a:bodyPr/>
          <a:lstStyle/>
          <a:p>
            <a:endParaRPr lang="en-US"/>
          </a:p>
        </p:txBody>
      </p:sp>
      <p:sp>
        <p:nvSpPr>
          <p:cNvPr id="43" name="Shape 37"/>
          <p:cNvSpPr/>
          <p:nvPr/>
        </p:nvSpPr>
        <p:spPr>
          <a:xfrm>
            <a:off x="5536692" y="3529584"/>
            <a:ext cx="3150108" cy="310896"/>
          </a:xfrm>
          <a:prstGeom prst="rect">
            <a:avLst/>
          </a:prstGeom>
          <a:solidFill>
            <a:srgbClr val="F59E0B"/>
          </a:solidFill>
          <a:ln/>
        </p:spPr>
        <p:txBody>
          <a:bodyPr/>
          <a:lstStyle/>
          <a:p>
            <a:endParaRPr lang="en-US"/>
          </a:p>
        </p:txBody>
      </p:sp>
      <p:sp>
        <p:nvSpPr>
          <p:cNvPr id="44" name="Text 38"/>
          <p:cNvSpPr/>
          <p:nvPr/>
        </p:nvSpPr>
        <p:spPr>
          <a:xfrm>
            <a:off x="5664708" y="3529584"/>
            <a:ext cx="2894076" cy="310896"/>
          </a:xfrm>
          <a:prstGeom prst="rect">
            <a:avLst/>
          </a:prstGeom>
          <a:noFill/>
          <a:ln/>
        </p:spPr>
        <p:txBody>
          <a:bodyPr wrap="square" lIns="0" tIns="0" rIns="0" bIns="0" rtlCol="0" anchor="ct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60–120 days</a:t>
            </a:r>
            <a:endParaRPr lang="en-US" sz="1100" dirty="0"/>
          </a:p>
        </p:txBody>
      </p:sp>
      <p:sp>
        <p:nvSpPr>
          <p:cNvPr id="45" name="Text 39"/>
          <p:cNvSpPr/>
          <p:nvPr/>
        </p:nvSpPr>
        <p:spPr>
          <a:xfrm>
            <a:off x="5664708" y="3913632"/>
            <a:ext cx="2894076" cy="585216"/>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Qualify alternate source for GlobalChem lots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59E0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6400800" y="1280160"/>
            <a:ext cx="2651760" cy="2651760"/>
          </a:xfrm>
          <a:prstGeom prst="rect">
            <a:avLst/>
          </a:prstGeom>
        </p:spPr>
      </p:pic>
      <p:sp>
        <p:nvSpPr>
          <p:cNvPr id="4" name="Text 1"/>
          <p:cNvSpPr/>
          <p:nvPr/>
        </p:nvSpPr>
        <p:spPr>
          <a:xfrm>
            <a:off x="685800" y="548640"/>
            <a:ext cx="7315200" cy="320040"/>
          </a:xfrm>
          <a:prstGeom prst="rect">
            <a:avLst/>
          </a:prstGeom>
          <a:noFill/>
          <a:ln/>
        </p:spPr>
        <p:txBody>
          <a:bodyPr wrap="square" lIns="0" tIns="0" rIns="0" bIns="0" rtlCol="0" anchor="ctr"/>
          <a:lstStyle/>
          <a:p>
            <a:pPr marL="0" indent="0">
              <a:buNone/>
            </a:pPr>
            <a:r>
              <a:rPr lang="en-US" sz="1300" b="1" kern="0" spc="300" dirty="0">
                <a:solidFill>
                  <a:srgbClr val="F59E0B"/>
                </a:solidFill>
                <a:latin typeface="Calibri" pitchFamily="34" charset="0"/>
                <a:ea typeface="Calibri" pitchFamily="34" charset="-122"/>
                <a:cs typeface="Calibri" pitchFamily="34" charset="-120"/>
              </a:rPr>
              <a:t>NEXT STEPS</a:t>
            </a:r>
            <a:endParaRPr lang="en-US" sz="1300" dirty="0"/>
          </a:p>
        </p:txBody>
      </p:sp>
      <p:sp>
        <p:nvSpPr>
          <p:cNvPr id="5" name="Text 2"/>
          <p:cNvSpPr/>
          <p:nvPr/>
        </p:nvSpPr>
        <p:spPr>
          <a:xfrm>
            <a:off x="658368" y="868680"/>
            <a:ext cx="7315200" cy="64008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From Findings to Action</a:t>
            </a:r>
            <a:endParaRPr lang="en-US" sz="3000" dirty="0"/>
          </a:p>
        </p:txBody>
      </p:sp>
      <p:sp>
        <p:nvSpPr>
          <p:cNvPr id="6" name="Shape 3"/>
          <p:cNvSpPr/>
          <p:nvPr/>
        </p:nvSpPr>
        <p:spPr>
          <a:xfrm>
            <a:off x="685800" y="1600200"/>
            <a:ext cx="1371600" cy="41148"/>
          </a:xfrm>
          <a:prstGeom prst="rect">
            <a:avLst/>
          </a:prstGeom>
          <a:solidFill>
            <a:srgbClr val="F59E0B"/>
          </a:solidFill>
          <a:ln/>
        </p:spPr>
        <p:txBody>
          <a:bodyPr/>
          <a:lstStyle/>
          <a:p>
            <a:endParaRPr lang="en-US"/>
          </a:p>
        </p:txBody>
      </p:sp>
      <p:sp>
        <p:nvSpPr>
          <p:cNvPr id="7" name="Text 4"/>
          <p:cNvSpPr/>
          <p:nvPr/>
        </p:nvSpPr>
        <p:spPr>
          <a:xfrm>
            <a:off x="685800" y="1828800"/>
            <a:ext cx="777240" cy="694944"/>
          </a:xfrm>
          <a:prstGeom prst="rect">
            <a:avLst/>
          </a:prstGeom>
          <a:noFill/>
          <a:ln/>
        </p:spPr>
        <p:txBody>
          <a:bodyPr wrap="square" lIns="0" tIns="0" rIns="0" bIns="0" rtlCol="0" anchor="ctr"/>
          <a:lstStyle/>
          <a:p>
            <a:pPr marL="0" indent="0">
              <a:buNone/>
            </a:pPr>
            <a:r>
              <a:rPr lang="en-US" sz="3000" b="1" dirty="0">
                <a:solidFill>
                  <a:srgbClr val="F59E0B"/>
                </a:solidFill>
                <a:latin typeface="Trebuchet MS" pitchFamily="34" charset="0"/>
                <a:ea typeface="Trebuchet MS" pitchFamily="34" charset="-122"/>
                <a:cs typeface="Trebuchet MS" pitchFamily="34" charset="-120"/>
              </a:rPr>
              <a:t>01</a:t>
            </a:r>
            <a:endParaRPr lang="en-US" sz="3000" dirty="0"/>
          </a:p>
        </p:txBody>
      </p:sp>
      <p:sp>
        <p:nvSpPr>
          <p:cNvPr id="8" name="Text 5"/>
          <p:cNvSpPr/>
          <p:nvPr/>
        </p:nvSpPr>
        <p:spPr>
          <a:xfrm>
            <a:off x="1554480" y="1883664"/>
            <a:ext cx="4663440" cy="310896"/>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Prioritize the five flagged components</a:t>
            </a:r>
            <a:endParaRPr lang="en-US" sz="1400" dirty="0"/>
          </a:p>
        </p:txBody>
      </p:sp>
      <p:sp>
        <p:nvSpPr>
          <p:cNvPr id="9" name="Text 6"/>
          <p:cNvSpPr/>
          <p:nvPr/>
        </p:nvSpPr>
        <p:spPr>
          <a:xfrm>
            <a:off x="1554480" y="2176272"/>
            <a:ext cx="4709160" cy="329184"/>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Launch targeted corrective actions for COAT890, CARB123, BIND567, COMP042, and COMP043.</a:t>
            </a:r>
            <a:endParaRPr lang="en-US" sz="1050" dirty="0"/>
          </a:p>
        </p:txBody>
      </p:sp>
      <p:sp>
        <p:nvSpPr>
          <p:cNvPr id="10" name="Text 7"/>
          <p:cNvSpPr/>
          <p:nvPr/>
        </p:nvSpPr>
        <p:spPr>
          <a:xfrm>
            <a:off x="685800" y="2569464"/>
            <a:ext cx="777240" cy="694944"/>
          </a:xfrm>
          <a:prstGeom prst="rect">
            <a:avLst/>
          </a:prstGeom>
          <a:noFill/>
          <a:ln/>
        </p:spPr>
        <p:txBody>
          <a:bodyPr wrap="square" lIns="0" tIns="0" rIns="0" bIns="0" rtlCol="0" anchor="ctr"/>
          <a:lstStyle/>
          <a:p>
            <a:pPr marL="0" indent="0">
              <a:buNone/>
            </a:pPr>
            <a:r>
              <a:rPr lang="en-US" sz="3000" b="1" dirty="0">
                <a:solidFill>
                  <a:srgbClr val="F59E0B"/>
                </a:solidFill>
                <a:latin typeface="Trebuchet MS" pitchFamily="34" charset="0"/>
                <a:ea typeface="Trebuchet MS" pitchFamily="34" charset="-122"/>
                <a:cs typeface="Trebuchet MS" pitchFamily="34" charset="-120"/>
              </a:rPr>
              <a:t>02</a:t>
            </a:r>
            <a:endParaRPr lang="en-US" sz="3000" dirty="0"/>
          </a:p>
        </p:txBody>
      </p:sp>
      <p:sp>
        <p:nvSpPr>
          <p:cNvPr id="11" name="Text 8"/>
          <p:cNvSpPr/>
          <p:nvPr/>
        </p:nvSpPr>
        <p:spPr>
          <a:xfrm>
            <a:off x="1554480" y="2624328"/>
            <a:ext cx="4663440" cy="310896"/>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Tighten supplier performance reviews</a:t>
            </a:r>
            <a:endParaRPr lang="en-US" sz="1400" dirty="0"/>
          </a:p>
        </p:txBody>
      </p:sp>
      <p:sp>
        <p:nvSpPr>
          <p:cNvPr id="12" name="Text 9"/>
          <p:cNvSpPr/>
          <p:nvPr/>
        </p:nvSpPr>
        <p:spPr>
          <a:xfrm>
            <a:off x="1554480" y="2916936"/>
            <a:ext cx="4709160" cy="329184"/>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Formalize scorecards and escalation triggers across the highest-exposure suppliers.</a:t>
            </a:r>
            <a:endParaRPr lang="en-US" sz="1050" dirty="0"/>
          </a:p>
        </p:txBody>
      </p:sp>
      <p:sp>
        <p:nvSpPr>
          <p:cNvPr id="13" name="Text 10"/>
          <p:cNvSpPr/>
          <p:nvPr/>
        </p:nvSpPr>
        <p:spPr>
          <a:xfrm>
            <a:off x="685800" y="3310128"/>
            <a:ext cx="777240" cy="694944"/>
          </a:xfrm>
          <a:prstGeom prst="rect">
            <a:avLst/>
          </a:prstGeom>
          <a:noFill/>
          <a:ln/>
        </p:spPr>
        <p:txBody>
          <a:bodyPr wrap="square" lIns="0" tIns="0" rIns="0" bIns="0" rtlCol="0" anchor="ctr"/>
          <a:lstStyle/>
          <a:p>
            <a:pPr marL="0" indent="0">
              <a:buNone/>
            </a:pPr>
            <a:r>
              <a:rPr lang="en-US" sz="3000" b="1" dirty="0">
                <a:solidFill>
                  <a:srgbClr val="F59E0B"/>
                </a:solidFill>
                <a:latin typeface="Trebuchet MS" pitchFamily="34" charset="0"/>
                <a:ea typeface="Trebuchet MS" pitchFamily="34" charset="-122"/>
                <a:cs typeface="Trebuchet MS" pitchFamily="34" charset="-120"/>
              </a:rPr>
              <a:t>03</a:t>
            </a:r>
            <a:endParaRPr lang="en-US" sz="3000" dirty="0"/>
          </a:p>
        </p:txBody>
      </p:sp>
      <p:sp>
        <p:nvSpPr>
          <p:cNvPr id="14" name="Text 11"/>
          <p:cNvSpPr/>
          <p:nvPr/>
        </p:nvSpPr>
        <p:spPr>
          <a:xfrm>
            <a:off x="1554480" y="3364992"/>
            <a:ext cx="4663440" cy="310896"/>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Validate reorder &amp; safety-stock assumptions</a:t>
            </a:r>
            <a:endParaRPr lang="en-US" sz="1400" dirty="0"/>
          </a:p>
        </p:txBody>
      </p:sp>
      <p:sp>
        <p:nvSpPr>
          <p:cNvPr id="15" name="Text 12"/>
          <p:cNvSpPr/>
          <p:nvPr/>
        </p:nvSpPr>
        <p:spPr>
          <a:xfrm>
            <a:off x="1554480" y="3657600"/>
            <a:ext cx="4709160" cy="329184"/>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Rebalance buffers where backorders and lead-time variance are elevated.</a:t>
            </a:r>
            <a:endParaRPr lang="en-US" sz="1050" dirty="0"/>
          </a:p>
        </p:txBody>
      </p:sp>
      <p:sp>
        <p:nvSpPr>
          <p:cNvPr id="16" name="Text 13"/>
          <p:cNvSpPr/>
          <p:nvPr/>
        </p:nvSpPr>
        <p:spPr>
          <a:xfrm>
            <a:off x="685800" y="4050792"/>
            <a:ext cx="777240" cy="694944"/>
          </a:xfrm>
          <a:prstGeom prst="rect">
            <a:avLst/>
          </a:prstGeom>
          <a:noFill/>
          <a:ln/>
        </p:spPr>
        <p:txBody>
          <a:bodyPr wrap="square" lIns="0" tIns="0" rIns="0" bIns="0" rtlCol="0" anchor="ctr"/>
          <a:lstStyle/>
          <a:p>
            <a:pPr marL="0" indent="0">
              <a:buNone/>
            </a:pPr>
            <a:r>
              <a:rPr lang="en-US" sz="3000" b="1" dirty="0">
                <a:solidFill>
                  <a:srgbClr val="F59E0B"/>
                </a:solidFill>
                <a:latin typeface="Trebuchet MS" pitchFamily="34" charset="0"/>
                <a:ea typeface="Trebuchet MS" pitchFamily="34" charset="-122"/>
                <a:cs typeface="Trebuchet MS" pitchFamily="34" charset="-120"/>
              </a:rPr>
              <a:t>04</a:t>
            </a:r>
            <a:endParaRPr lang="en-US" sz="3000" dirty="0"/>
          </a:p>
        </p:txBody>
      </p:sp>
      <p:sp>
        <p:nvSpPr>
          <p:cNvPr id="17" name="Text 14"/>
          <p:cNvSpPr/>
          <p:nvPr/>
        </p:nvSpPr>
        <p:spPr>
          <a:xfrm>
            <a:off x="1554480" y="4105656"/>
            <a:ext cx="4663440" cy="310896"/>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Strengthen traceability &amp; audit readiness</a:t>
            </a:r>
            <a:endParaRPr lang="en-US" sz="1400" dirty="0"/>
          </a:p>
        </p:txBody>
      </p:sp>
      <p:sp>
        <p:nvSpPr>
          <p:cNvPr id="18" name="Text 15"/>
          <p:cNvSpPr/>
          <p:nvPr/>
        </p:nvSpPr>
        <p:spPr>
          <a:xfrm>
            <a:off x="1554480" y="4398264"/>
            <a:ext cx="4709160" cy="329184"/>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Standardize deviation documentation and enhanced incoming inspection.</a:t>
            </a:r>
            <a:endParaRPr lang="en-US" sz="1050" dirty="0"/>
          </a:p>
        </p:txBody>
      </p:sp>
      <p:sp>
        <p:nvSpPr>
          <p:cNvPr id="19" name="Text 16"/>
          <p:cNvSpPr/>
          <p:nvPr/>
        </p:nvSpPr>
        <p:spPr>
          <a:xfrm>
            <a:off x="685800" y="4709160"/>
            <a:ext cx="7772400" cy="27432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These measures reduce operational disruption while strengthening quality control and compliance.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ca48ea3-8c75-4d36-b64f-70604b11fd22}" enabled="1" method="Standard" siteId="{3ac94b33-9135-4821-9502-eafda6592a35}" contentBits="0" removed="0"/>
</clbl:labelList>
</file>

<file path=docProps/app.xml><?xml version="1.0" encoding="utf-8"?>
<Properties xmlns="http://schemas.openxmlformats.org/officeDocument/2006/extended-properties" xmlns:vt="http://schemas.openxmlformats.org/officeDocument/2006/docPropsVTypes">
  <TotalTime>33</TotalTime>
  <Words>2127</Words>
  <Application>Microsoft Office PowerPoint</Application>
  <PresentationFormat>On-screen Show (16:9)</PresentationFormat>
  <Paragraphs>174</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JNJ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Castro de matos, Esron [CONBR]</dc:creator>
  <cp:lastModifiedBy>Castro de matos, Esron [CONBR]</cp:lastModifiedBy>
  <cp:revision>1</cp:revision>
  <dcterms:created xsi:type="dcterms:W3CDTF">2026-07-01T00:48:59Z</dcterms:created>
  <dcterms:modified xsi:type="dcterms:W3CDTF">2026-07-01T01:22:26Z</dcterms:modified>
</cp:coreProperties>
</file>